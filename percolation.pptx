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0" r:id="rId4"/>
    <p:sldId id="261" r:id="rId5"/>
    <p:sldId id="257" r:id="rId6"/>
    <p:sldId id="258" r:id="rId7"/>
    <p:sldId id="263" r:id="rId8"/>
    <p:sldId id="265" r:id="rId9"/>
    <p:sldId id="262" r:id="rId10"/>
    <p:sldId id="266" r:id="rId11"/>
    <p:sldId id="267" r:id="rId12"/>
    <p:sldId id="264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752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77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67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87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3656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484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667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8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064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283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6668BB-5AA0-4DD2-8735-45AC13F760A9}" type="datetimeFigureOut">
              <a:rPr lang="ko-KR" altLang="en-US" smtClean="0"/>
              <a:t>2025-11-17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51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A417E4-C602-49D0-A4D5-217090F5E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침투 이론</a:t>
            </a:r>
            <a:br>
              <a:rPr lang="en-US" altLang="ko-KR"/>
            </a:br>
            <a:r>
              <a:rPr lang="en-US" altLang="ko-KR"/>
              <a:t>(Percolation</a:t>
            </a:r>
            <a:r>
              <a:rPr lang="ko-KR" altLang="en-US"/>
              <a:t> </a:t>
            </a:r>
            <a:r>
              <a:rPr lang="en-US" altLang="ko-KR"/>
              <a:t>Theory)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86AADA-01FD-6B95-9366-3277820E66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전산물리학</a:t>
            </a:r>
            <a:r>
              <a:rPr lang="en-US" altLang="ko-KR"/>
              <a:t>2 </a:t>
            </a:r>
            <a:r>
              <a:rPr lang="ko-KR" altLang="en-US"/>
              <a:t>강효민</a:t>
            </a:r>
          </a:p>
        </p:txBody>
      </p:sp>
    </p:spTree>
    <p:extLst>
      <p:ext uri="{BB962C8B-B14F-4D97-AF65-F5344CB8AC3E}">
        <p14:creationId xmlns:p14="http://schemas.microsoft.com/office/powerpoint/2010/main" val="175228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37EF7-FEB3-D587-B8E1-FAC25DF76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그래프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30841-A4BB-A2E5-4355-C7DB1CBA3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점들의 집합과</a:t>
            </a:r>
            <a:r>
              <a:rPr lang="en-US" altLang="ko-KR"/>
              <a:t>, </a:t>
            </a:r>
            <a:r>
              <a:rPr lang="ko-KR" altLang="en-US"/>
              <a:t>그 점들을 잇는 선분들의 집합의 순서쌍을 </a:t>
            </a:r>
            <a:r>
              <a:rPr lang="ko-KR" altLang="en-US" b="1"/>
              <a:t>그래프</a:t>
            </a:r>
            <a:r>
              <a:rPr lang="ko-KR" altLang="en-US"/>
              <a:t>라고 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예시</a:t>
            </a:r>
            <a:endParaRPr lang="en-US" altLang="ko-KR"/>
          </a:p>
          <a:p>
            <a:pPr marL="0" indent="0">
              <a:buNone/>
            </a:pPr>
            <a:r>
              <a:rPr lang="ko-KR" altLang="en-US"/>
              <a:t>점 집합 </a:t>
            </a:r>
            <a:r>
              <a:rPr lang="en-US" altLang="ko-KR"/>
              <a:t>V = {1,2,3,4,5}</a:t>
            </a:r>
          </a:p>
          <a:p>
            <a:pPr marL="0" indent="0">
              <a:buNone/>
            </a:pPr>
            <a:r>
              <a:rPr lang="ko-KR" altLang="en-US"/>
              <a:t>선 집합 </a:t>
            </a:r>
            <a:r>
              <a:rPr lang="en-US" altLang="ko-KR"/>
              <a:t>E = {{1,2}, {2,3}, {3,4}, {1,5}, {2,5}, {3,5}}</a:t>
            </a:r>
          </a:p>
          <a:p>
            <a:pPr marL="0" indent="0">
              <a:buNone/>
            </a:pPr>
            <a:r>
              <a:rPr lang="ko-KR" altLang="en-US"/>
              <a:t>그래프 </a:t>
            </a:r>
            <a:r>
              <a:rPr lang="en-US" altLang="ko-KR"/>
              <a:t>G = (V,E)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8F474B8-D829-0A05-B248-F897D710F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206" y="2800689"/>
            <a:ext cx="3186744" cy="319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969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FCDD9-DA03-733A-A7AC-D4F7B9895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격자 그래프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2E1033-E06C-F1D4-AF2E-AE39982ED8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8117"/>
            <a:ext cx="10515600" cy="4351338"/>
          </a:xfrm>
        </p:spPr>
        <p:txBody>
          <a:bodyPr/>
          <a:lstStyle/>
          <a:p>
            <a:r>
              <a:rPr lang="ko-KR" altLang="en-US"/>
              <a:t>정사각형 격자처럼 점들이 규칙적으로 배열되어 있고</a:t>
            </a:r>
            <a:r>
              <a:rPr lang="en-US" altLang="ko-KR"/>
              <a:t>, </a:t>
            </a:r>
            <a:r>
              <a:rPr lang="ko-KR" altLang="en-US"/>
              <a:t>각 점이 상하좌우로 인접한 점들과</a:t>
            </a:r>
            <a:r>
              <a:rPr lang="en-US" altLang="ko-KR"/>
              <a:t> </a:t>
            </a:r>
            <a:r>
              <a:rPr lang="ko-KR" altLang="en-US"/>
              <a:t>간선으로 연결된 그래프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9208C1-AD94-04CC-6A4F-F88B90206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309" y="3045807"/>
            <a:ext cx="2445964" cy="181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C64403-2E6D-E429-E6B1-F36AD3247BBF}"/>
              </a:ext>
            </a:extLst>
          </p:cNvPr>
          <p:cNvSpPr txBox="1"/>
          <p:nvPr/>
        </p:nvSpPr>
        <p:spPr>
          <a:xfrm>
            <a:off x="1856007" y="3682176"/>
            <a:ext cx="32031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/>
              <a:t>10 x 10 </a:t>
            </a:r>
            <a:r>
              <a:rPr lang="ko-KR" altLang="en-US" sz="2800"/>
              <a:t>격자 그래프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80B8A72-D12A-CE4C-CBDA-EF77385575E8}"/>
              </a:ext>
            </a:extLst>
          </p:cNvPr>
          <p:cNvCxnSpPr/>
          <p:nvPr/>
        </p:nvCxnSpPr>
        <p:spPr>
          <a:xfrm>
            <a:off x="5750944" y="3887638"/>
            <a:ext cx="64410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8F3F99A-CB27-F17A-3ACA-B3C5055D577D}"/>
              </a:ext>
            </a:extLst>
          </p:cNvPr>
          <p:cNvSpPr txBox="1"/>
          <p:nvPr/>
        </p:nvSpPr>
        <p:spPr>
          <a:xfrm>
            <a:off x="1138207" y="5451323"/>
            <a:ext cx="9225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/>
              <a:t>Percolation</a:t>
            </a:r>
            <a:r>
              <a:rPr lang="ko-KR" altLang="en-US" sz="2800"/>
              <a:t> </a:t>
            </a:r>
            <a:r>
              <a:rPr lang="en-US" altLang="ko-KR" sz="2800"/>
              <a:t>theory</a:t>
            </a:r>
            <a:r>
              <a:rPr lang="ko-KR" altLang="en-US" sz="2800"/>
              <a:t>는 무한한 크기의 격자 그래프를 다룬다</a:t>
            </a:r>
            <a:r>
              <a:rPr lang="en-US" altLang="ko-KR" sz="2800"/>
              <a:t>.</a:t>
            </a:r>
            <a:endParaRPr lang="ko-KR" altLang="en-US" sz="2800"/>
          </a:p>
        </p:txBody>
      </p:sp>
    </p:spTree>
    <p:extLst>
      <p:ext uri="{BB962C8B-B14F-4D97-AF65-F5344CB8AC3E}">
        <p14:creationId xmlns:p14="http://schemas.microsoft.com/office/powerpoint/2010/main" val="1369900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7C6870-840F-56ED-8100-7DCE0BEA8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이론적 배경 </a:t>
            </a:r>
            <a:r>
              <a:rPr lang="en-US" altLang="ko-KR"/>
              <a:t>: </a:t>
            </a:r>
            <a:r>
              <a:rPr lang="ko-KR" altLang="en-US"/>
              <a:t>클러스터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A38F02-1F2A-73BD-B6A4-39AE757A9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508" y="1967924"/>
            <a:ext cx="3885941" cy="374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1CDAF8-31FE-C52A-0F9E-372B5FCC8A1B}"/>
              </a:ext>
            </a:extLst>
          </p:cNvPr>
          <p:cNvSpPr txBox="1"/>
          <p:nvPr/>
        </p:nvSpPr>
        <p:spPr>
          <a:xfrm>
            <a:off x="523335" y="2886973"/>
            <a:ext cx="48714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그래프에서 </a:t>
            </a:r>
            <a:r>
              <a:rPr lang="en-US" altLang="ko-KR"/>
              <a:t>A</a:t>
            </a:r>
            <a:r>
              <a:rPr lang="ko-KR" altLang="en-US"/>
              <a:t>에서 </a:t>
            </a:r>
            <a:r>
              <a:rPr lang="en-US" altLang="ko-KR"/>
              <a:t>B</a:t>
            </a:r>
            <a:r>
              <a:rPr lang="ko-KR" altLang="en-US"/>
              <a:t>로 도달 가능하면 두 점 </a:t>
            </a:r>
            <a:r>
              <a:rPr lang="en-US" altLang="ko-KR"/>
              <a:t>A, B</a:t>
            </a:r>
          </a:p>
          <a:p>
            <a:r>
              <a:rPr lang="ko-KR" altLang="en-US"/>
              <a:t>는 같은 클러스터에 있다고 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옆의 그림에서는 </a:t>
            </a:r>
            <a:r>
              <a:rPr lang="en-US" altLang="ko-KR"/>
              <a:t>3</a:t>
            </a:r>
            <a:r>
              <a:rPr lang="ko-KR" altLang="en-US"/>
              <a:t>개의 클러스터가 존재한다</a:t>
            </a:r>
            <a:r>
              <a:rPr lang="en-US" altLang="ko-KR"/>
              <a:t>.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F6507B1-58B9-A0B0-FA4B-4D7256697986}"/>
              </a:ext>
            </a:extLst>
          </p:cNvPr>
          <p:cNvSpPr/>
          <p:nvPr/>
        </p:nvSpPr>
        <p:spPr>
          <a:xfrm>
            <a:off x="6418052" y="1815922"/>
            <a:ext cx="1236453" cy="1200329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C3324756-637F-9A78-693B-4D88BED40FB4}"/>
              </a:ext>
            </a:extLst>
          </p:cNvPr>
          <p:cNvSpPr/>
          <p:nvPr/>
        </p:nvSpPr>
        <p:spPr>
          <a:xfrm>
            <a:off x="6417840" y="1566456"/>
            <a:ext cx="4221405" cy="3026888"/>
          </a:xfrm>
          <a:custGeom>
            <a:avLst/>
            <a:gdLst>
              <a:gd name="connsiteX0" fmla="*/ 213 w 4221405"/>
              <a:gd name="connsiteY0" fmla="*/ 1740336 h 3026888"/>
              <a:gd name="connsiteX1" fmla="*/ 282009 w 4221405"/>
              <a:gd name="connsiteY1" fmla="*/ 1510299 h 3026888"/>
              <a:gd name="connsiteX2" fmla="*/ 1144651 w 4221405"/>
              <a:gd name="connsiteY2" fmla="*/ 1464291 h 3026888"/>
              <a:gd name="connsiteX3" fmla="*/ 1357435 w 4221405"/>
              <a:gd name="connsiteY3" fmla="*/ 1055974 h 3026888"/>
              <a:gd name="connsiteX4" fmla="*/ 1299926 w 4221405"/>
              <a:gd name="connsiteY4" fmla="*/ 337106 h 3026888"/>
              <a:gd name="connsiteX5" fmla="*/ 1736998 w 4221405"/>
              <a:gd name="connsiteY5" fmla="*/ 130072 h 3026888"/>
              <a:gd name="connsiteX6" fmla="*/ 3761330 w 4221405"/>
              <a:gd name="connsiteY6" fmla="*/ 84065 h 3026888"/>
              <a:gd name="connsiteX7" fmla="*/ 4221405 w 4221405"/>
              <a:gd name="connsiteY7" fmla="*/ 1297514 h 3026888"/>
              <a:gd name="connsiteX8" fmla="*/ 3761330 w 4221405"/>
              <a:gd name="connsiteY8" fmla="*/ 2602978 h 3026888"/>
              <a:gd name="connsiteX9" fmla="*/ 2766417 w 4221405"/>
              <a:gd name="connsiteY9" fmla="*/ 2769755 h 3026888"/>
              <a:gd name="connsiteX10" fmla="*/ 2116560 w 4221405"/>
              <a:gd name="connsiteY10" fmla="*/ 2234918 h 3026888"/>
              <a:gd name="connsiteX11" fmla="*/ 1593224 w 4221405"/>
              <a:gd name="connsiteY11" fmla="*/ 2637484 h 3026888"/>
              <a:gd name="connsiteX12" fmla="*/ 1098643 w 4221405"/>
              <a:gd name="connsiteY12" fmla="*/ 2896276 h 3026888"/>
              <a:gd name="connsiteX13" fmla="*/ 253254 w 4221405"/>
              <a:gd name="connsiteY13" fmla="*/ 2942284 h 3026888"/>
              <a:gd name="connsiteX14" fmla="*/ 213 w 4221405"/>
              <a:gd name="connsiteY14" fmla="*/ 1740336 h 3026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4221405" h="3026888">
                <a:moveTo>
                  <a:pt x="213" y="1740336"/>
                </a:moveTo>
                <a:cubicBezTo>
                  <a:pt x="5005" y="1501672"/>
                  <a:pt x="91269" y="1556306"/>
                  <a:pt x="282009" y="1510299"/>
                </a:cubicBezTo>
                <a:cubicBezTo>
                  <a:pt x="472749" y="1464292"/>
                  <a:pt x="965413" y="1540012"/>
                  <a:pt x="1144651" y="1464291"/>
                </a:cubicBezTo>
                <a:cubicBezTo>
                  <a:pt x="1323889" y="1388570"/>
                  <a:pt x="1331556" y="1243838"/>
                  <a:pt x="1357435" y="1055974"/>
                </a:cubicBezTo>
                <a:cubicBezTo>
                  <a:pt x="1383314" y="868110"/>
                  <a:pt x="1236666" y="491423"/>
                  <a:pt x="1299926" y="337106"/>
                </a:cubicBezTo>
                <a:cubicBezTo>
                  <a:pt x="1363186" y="182789"/>
                  <a:pt x="1326764" y="172245"/>
                  <a:pt x="1736998" y="130072"/>
                </a:cubicBezTo>
                <a:cubicBezTo>
                  <a:pt x="2147232" y="87899"/>
                  <a:pt x="3347262" y="-110509"/>
                  <a:pt x="3761330" y="84065"/>
                </a:cubicBezTo>
                <a:cubicBezTo>
                  <a:pt x="4175398" y="278639"/>
                  <a:pt x="4221405" y="877695"/>
                  <a:pt x="4221405" y="1297514"/>
                </a:cubicBezTo>
                <a:cubicBezTo>
                  <a:pt x="4221405" y="1717333"/>
                  <a:pt x="4003828" y="2357605"/>
                  <a:pt x="3761330" y="2602978"/>
                </a:cubicBezTo>
                <a:cubicBezTo>
                  <a:pt x="3518832" y="2848351"/>
                  <a:pt x="3040545" y="2831098"/>
                  <a:pt x="2766417" y="2769755"/>
                </a:cubicBezTo>
                <a:cubicBezTo>
                  <a:pt x="2492289" y="2708412"/>
                  <a:pt x="2312092" y="2256963"/>
                  <a:pt x="2116560" y="2234918"/>
                </a:cubicBezTo>
                <a:cubicBezTo>
                  <a:pt x="1921028" y="2212873"/>
                  <a:pt x="1762877" y="2527258"/>
                  <a:pt x="1593224" y="2637484"/>
                </a:cubicBezTo>
                <a:cubicBezTo>
                  <a:pt x="1423571" y="2747710"/>
                  <a:pt x="1321971" y="2845476"/>
                  <a:pt x="1098643" y="2896276"/>
                </a:cubicBezTo>
                <a:cubicBezTo>
                  <a:pt x="875315" y="2947076"/>
                  <a:pt x="435367" y="3133982"/>
                  <a:pt x="253254" y="2942284"/>
                </a:cubicBezTo>
                <a:cubicBezTo>
                  <a:pt x="71141" y="2750586"/>
                  <a:pt x="-4579" y="1979000"/>
                  <a:pt x="213" y="1740336"/>
                </a:cubicBezTo>
                <a:close/>
              </a:path>
            </a:pathLst>
          </a:custGeom>
          <a:noFill/>
          <a:ln w="5715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자유형: 도형 8">
            <a:extLst>
              <a:ext uri="{FF2B5EF4-FFF2-40B4-BE49-F238E27FC236}">
                <a16:creationId xmlns:a16="http://schemas.microsoft.com/office/drawing/2014/main" id="{8F8B2B15-EEB4-F30F-7CFB-1E73BBC7A277}"/>
              </a:ext>
            </a:extLst>
          </p:cNvPr>
          <p:cNvSpPr/>
          <p:nvPr/>
        </p:nvSpPr>
        <p:spPr>
          <a:xfrm>
            <a:off x="6466581" y="3884892"/>
            <a:ext cx="3748344" cy="1550454"/>
          </a:xfrm>
          <a:custGeom>
            <a:avLst/>
            <a:gdLst>
              <a:gd name="connsiteX0" fmla="*/ 14732 w 3748344"/>
              <a:gd name="connsiteY0" fmla="*/ 1210444 h 1550454"/>
              <a:gd name="connsiteX1" fmla="*/ 181510 w 3748344"/>
              <a:gd name="connsiteY1" fmla="*/ 825131 h 1550454"/>
              <a:gd name="connsiteX2" fmla="*/ 854370 w 3748344"/>
              <a:gd name="connsiteY2" fmla="*/ 825131 h 1550454"/>
              <a:gd name="connsiteX3" fmla="*/ 1515728 w 3748344"/>
              <a:gd name="connsiteY3" fmla="*/ 652602 h 1550454"/>
              <a:gd name="connsiteX4" fmla="*/ 1786023 w 3748344"/>
              <a:gd name="connsiteY4" fmla="*/ 273040 h 1550454"/>
              <a:gd name="connsiteX5" fmla="*/ 2113827 w 3748344"/>
              <a:gd name="connsiteY5" fmla="*/ 2746 h 1550454"/>
              <a:gd name="connsiteX6" fmla="*/ 2384121 w 3748344"/>
              <a:gd name="connsiteY6" fmla="*/ 439817 h 1550454"/>
              <a:gd name="connsiteX7" fmla="*/ 2844196 w 3748344"/>
              <a:gd name="connsiteY7" fmla="*/ 595093 h 1550454"/>
              <a:gd name="connsiteX8" fmla="*/ 3626325 w 3748344"/>
              <a:gd name="connsiteY8" fmla="*/ 658353 h 1550454"/>
              <a:gd name="connsiteX9" fmla="*/ 3683834 w 3748344"/>
              <a:gd name="connsiteY9" fmla="*/ 1095425 h 1550454"/>
              <a:gd name="connsiteX10" fmla="*/ 3010974 w 3748344"/>
              <a:gd name="connsiteY10" fmla="*/ 1526746 h 1550454"/>
              <a:gd name="connsiteX11" fmla="*/ 348287 w 3748344"/>
              <a:gd name="connsiteY11" fmla="*/ 1463485 h 1550454"/>
              <a:gd name="connsiteX12" fmla="*/ 14732 w 3748344"/>
              <a:gd name="connsiteY12" fmla="*/ 1210444 h 1550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748344" h="1550454">
                <a:moveTo>
                  <a:pt x="14732" y="1210444"/>
                </a:moveTo>
                <a:cubicBezTo>
                  <a:pt x="-13064" y="1104052"/>
                  <a:pt x="41570" y="889350"/>
                  <a:pt x="181510" y="825131"/>
                </a:cubicBezTo>
                <a:cubicBezTo>
                  <a:pt x="321450" y="760912"/>
                  <a:pt x="632001" y="853886"/>
                  <a:pt x="854370" y="825131"/>
                </a:cubicBezTo>
                <a:cubicBezTo>
                  <a:pt x="1076739" y="796376"/>
                  <a:pt x="1360453" y="744617"/>
                  <a:pt x="1515728" y="652602"/>
                </a:cubicBezTo>
                <a:cubicBezTo>
                  <a:pt x="1671004" y="560587"/>
                  <a:pt x="1686340" y="381349"/>
                  <a:pt x="1786023" y="273040"/>
                </a:cubicBezTo>
                <a:cubicBezTo>
                  <a:pt x="1885706" y="164731"/>
                  <a:pt x="2014144" y="-25050"/>
                  <a:pt x="2113827" y="2746"/>
                </a:cubicBezTo>
                <a:cubicBezTo>
                  <a:pt x="2213510" y="30542"/>
                  <a:pt x="2262393" y="341092"/>
                  <a:pt x="2384121" y="439817"/>
                </a:cubicBezTo>
                <a:cubicBezTo>
                  <a:pt x="2505849" y="538541"/>
                  <a:pt x="2637162" y="558670"/>
                  <a:pt x="2844196" y="595093"/>
                </a:cubicBezTo>
                <a:cubicBezTo>
                  <a:pt x="3051230" y="631516"/>
                  <a:pt x="3486385" y="574964"/>
                  <a:pt x="3626325" y="658353"/>
                </a:cubicBezTo>
                <a:cubicBezTo>
                  <a:pt x="3766265" y="741742"/>
                  <a:pt x="3786392" y="950693"/>
                  <a:pt x="3683834" y="1095425"/>
                </a:cubicBezTo>
                <a:cubicBezTo>
                  <a:pt x="3581276" y="1240157"/>
                  <a:pt x="3566899" y="1465403"/>
                  <a:pt x="3010974" y="1526746"/>
                </a:cubicBezTo>
                <a:cubicBezTo>
                  <a:pt x="2455049" y="1588089"/>
                  <a:pt x="848619" y="1517160"/>
                  <a:pt x="348287" y="1463485"/>
                </a:cubicBezTo>
                <a:cubicBezTo>
                  <a:pt x="-152045" y="1409810"/>
                  <a:pt x="42528" y="1316836"/>
                  <a:pt x="14732" y="1210444"/>
                </a:cubicBezTo>
                <a:close/>
              </a:path>
            </a:pathLst>
          </a:cu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8259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AA6AA3-B880-C559-43D6-8DFB7630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이론이란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8A68DF-0A75-45F5-7919-ECF0FC0B1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2</a:t>
            </a:r>
            <a:r>
              <a:rPr lang="ko-KR" altLang="en-US"/>
              <a:t>차원 격자 그래프의 각 간선에 대해서 </a:t>
            </a:r>
            <a:r>
              <a:rPr lang="en-US" altLang="ko-KR"/>
              <a:t>“</a:t>
            </a:r>
            <a:r>
              <a:rPr lang="ko-KR" altLang="en-US"/>
              <a:t>그 간선이 존재할 확률이 </a:t>
            </a:r>
            <a:r>
              <a:rPr lang="en-US" altLang="ko-KR"/>
              <a:t>p</a:t>
            </a:r>
            <a:r>
              <a:rPr lang="ko-KR" altLang="en-US"/>
              <a:t>가 되게 하여 결정한 그래프</a:t>
            </a:r>
            <a:r>
              <a:rPr lang="en-US" altLang="ko-KR"/>
              <a:t>”</a:t>
            </a:r>
            <a:r>
              <a:rPr lang="ko-KR" altLang="en-US"/>
              <a:t>를 고려해보자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3EFFBB9-98E3-EB78-3FEF-F5BA88A79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468" y="3083570"/>
            <a:ext cx="2939743" cy="30133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55A2945-39E5-4B22-D732-E12B25334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89" y="3029556"/>
            <a:ext cx="2971563" cy="301335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84F9485-9924-2DAC-10DC-619D06011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0013" y="3106760"/>
            <a:ext cx="2971563" cy="29669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47D3F0-EEB2-F960-5638-2474B973047E}"/>
              </a:ext>
            </a:extLst>
          </p:cNvPr>
          <p:cNvSpPr txBox="1"/>
          <p:nvPr/>
        </p:nvSpPr>
        <p:spPr>
          <a:xfrm>
            <a:off x="9454551" y="6234022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</a:t>
            </a:r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11C3A0-CDAC-B790-AA9A-53CBD17BB626}"/>
              </a:ext>
            </a:extLst>
          </p:cNvPr>
          <p:cNvSpPr txBox="1"/>
          <p:nvPr/>
        </p:nvSpPr>
        <p:spPr>
          <a:xfrm>
            <a:off x="5687684" y="6234022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P=0.5</a:t>
            </a:r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123620-E21C-A41F-1A3B-855924FEC54C}"/>
              </a:ext>
            </a:extLst>
          </p:cNvPr>
          <p:cNvSpPr txBox="1"/>
          <p:nvPr/>
        </p:nvSpPr>
        <p:spPr>
          <a:xfrm>
            <a:off x="2003586" y="6234022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P=1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062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DE66DE-A2EE-9608-6972-A25F75A9A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이론이란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9CE7D4-428D-3252-1BC7-84E89DD55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</a:t>
            </a:r>
            <a:r>
              <a:rPr lang="ko-KR" altLang="en-US"/>
              <a:t>에 따라서 그래프 내 클러스터가 보이는 양상에 관한 이론을 침투 이론이라고 한다</a:t>
            </a:r>
            <a:r>
              <a:rPr lang="en-US" altLang="ko-KR"/>
              <a:t>.</a:t>
            </a:r>
          </a:p>
          <a:p>
            <a:r>
              <a:rPr lang="en-US" altLang="ko-KR"/>
              <a:t>p</a:t>
            </a:r>
            <a:r>
              <a:rPr lang="ko-KR" altLang="en-US"/>
              <a:t>에 따른 클러스터 분포</a:t>
            </a:r>
            <a:endParaRPr lang="en-US" altLang="ko-KR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B2FF6D-C6A5-9848-9257-931AAC64E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475" y="3469419"/>
            <a:ext cx="4133100" cy="20948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130D81-9B36-2A06-41FA-C5CD51D14455}"/>
              </a:ext>
            </a:extLst>
          </p:cNvPr>
          <p:cNvSpPr txBox="1"/>
          <p:nvPr/>
        </p:nvSpPr>
        <p:spPr>
          <a:xfrm>
            <a:off x="2952491" y="5877463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p=0.3</a:t>
            </a:r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97B9A46-7E2A-05D2-364E-6523565CE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627" y="3469418"/>
            <a:ext cx="4152894" cy="20948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3ED358-0E12-46D4-AFC6-FD6A29198A32}"/>
              </a:ext>
            </a:extLst>
          </p:cNvPr>
          <p:cNvSpPr txBox="1"/>
          <p:nvPr/>
        </p:nvSpPr>
        <p:spPr>
          <a:xfrm>
            <a:off x="8144811" y="5877463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p=0.7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398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2BC3D3-7915-270E-C7D9-104B68138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 모델링 </a:t>
            </a:r>
            <a:r>
              <a:rPr lang="en-US" altLang="ko-KR"/>
              <a:t>: </a:t>
            </a:r>
            <a:r>
              <a:rPr lang="ko-KR" altLang="en-US"/>
              <a:t>커플링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AD6867-D29D-071A-138F-F4AAD365E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/>
              <a:t>모든 간선의 존재 여부가</a:t>
            </a:r>
            <a:r>
              <a:rPr lang="en-US" altLang="ko-KR"/>
              <a:t> p</a:t>
            </a:r>
            <a:r>
              <a:rPr lang="ko-KR" altLang="en-US"/>
              <a:t>로 결정된다는 것을 다르게 모델링 해보자</a:t>
            </a:r>
            <a:r>
              <a:rPr lang="en-US" altLang="ko-KR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/>
              <a:t>각 간선에 </a:t>
            </a:r>
            <a:r>
              <a:rPr lang="en-US" altLang="ko-KR"/>
              <a:t>0~1 </a:t>
            </a:r>
            <a:r>
              <a:rPr lang="ko-KR" altLang="en-US"/>
              <a:t>사이의 수를 랜덤으로 할당하고</a:t>
            </a:r>
            <a:r>
              <a:rPr lang="en-US" altLang="ko-KR"/>
              <a:t>, p</a:t>
            </a:r>
            <a:r>
              <a:rPr lang="ko-KR" altLang="en-US"/>
              <a:t>보다 작으면 간선을 넣고</a:t>
            </a:r>
            <a:r>
              <a:rPr lang="en-US" altLang="ko-KR"/>
              <a:t>, p</a:t>
            </a:r>
            <a:r>
              <a:rPr lang="ko-KR" altLang="en-US"/>
              <a:t>보다 크면 넣지 않는다</a:t>
            </a:r>
            <a:r>
              <a:rPr lang="en-US" altLang="ko-KR"/>
              <a:t>. </a:t>
            </a:r>
            <a:r>
              <a:rPr lang="ko-KR" altLang="en-US"/>
              <a:t>이렇게 하면 각 간선이 존재할 확률은 </a:t>
            </a:r>
            <a:r>
              <a:rPr lang="en-US" altLang="ko-KR"/>
              <a:t>p</a:t>
            </a:r>
            <a:r>
              <a:rPr lang="ko-KR" altLang="en-US"/>
              <a:t>가 되므로</a:t>
            </a:r>
            <a:r>
              <a:rPr lang="en-US" altLang="ko-KR"/>
              <a:t> </a:t>
            </a:r>
            <a:r>
              <a:rPr lang="ko-KR" altLang="en-US"/>
              <a:t>올바르게 구현한 것이 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2629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47D324D-FA20-50BE-46D6-0657592B17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08" y="2437939"/>
            <a:ext cx="4419632" cy="33623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A923586-28A0-DB03-1E0F-E3BCC0539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003" y="2311598"/>
            <a:ext cx="4619659" cy="34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EB37DA-39C4-6F99-647C-4BAD2B2C6732}"/>
                  </a:ext>
                </a:extLst>
              </p:cNvPr>
              <p:cNvSpPr txBox="1"/>
              <p:nvPr/>
            </p:nvSpPr>
            <p:spPr>
              <a:xfrm>
                <a:off x="3242753" y="658312"/>
                <a:ext cx="5285421" cy="4685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ko-KR" altLang="en-US" sz="2400"/>
                  <a:t> 때 </a:t>
                </a:r>
                <a:r>
                  <a:rPr lang="en-US" altLang="ko-KR" sz="2400"/>
                  <a:t>→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ko-KR" altLang="en-US" sz="2400"/>
                  <a:t>인 간선만 유지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EB37DA-39C4-6F99-647C-4BAD2B2C6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53" y="658312"/>
                <a:ext cx="5285421" cy="468590"/>
              </a:xfrm>
              <a:prstGeom prst="rect">
                <a:avLst/>
              </a:prstGeom>
              <a:blipFill>
                <a:blip r:embed="rId4"/>
                <a:stretch>
                  <a:fillRect l="-346" t="-11688" b="-29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790B67F-0FBD-FB9F-8D1C-BEC6C2F4B0CF}"/>
              </a:ext>
            </a:extLst>
          </p:cNvPr>
          <p:cNvCxnSpPr>
            <a:cxnSpLocks/>
          </p:cNvCxnSpPr>
          <p:nvPr/>
        </p:nvCxnSpPr>
        <p:spPr>
          <a:xfrm>
            <a:off x="5213645" y="4078857"/>
            <a:ext cx="124425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0E2389-2F56-54FA-6750-2FCDA631358C}"/>
                  </a:ext>
                </a:extLst>
              </p:cNvPr>
              <p:cNvSpPr txBox="1"/>
              <p:nvPr/>
            </p:nvSpPr>
            <p:spPr>
              <a:xfrm>
                <a:off x="8609162" y="1656272"/>
                <a:ext cx="111351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(0.5)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0E2389-2F56-54FA-6750-2FCDA6313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9162" y="1656272"/>
                <a:ext cx="1113510" cy="461665"/>
              </a:xfrm>
              <a:prstGeom prst="rect">
                <a:avLst/>
              </a:prstGeom>
              <a:blipFill>
                <a:blip r:embed="rId5"/>
                <a:stretch>
                  <a:fillRect r="-2186" b="-17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64478-0674-F60F-B672-712CC342D6A3}"/>
                  </a:ext>
                </a:extLst>
              </p:cNvPr>
              <p:cNvSpPr txBox="1"/>
              <p:nvPr/>
            </p:nvSpPr>
            <p:spPr>
              <a:xfrm>
                <a:off x="2089417" y="1656271"/>
                <a:ext cx="14934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/>
                  <a:t>Original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64478-0674-F60F-B672-712CC342D6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417" y="1656271"/>
                <a:ext cx="1493422" cy="461665"/>
              </a:xfrm>
              <a:prstGeom prst="rect">
                <a:avLst/>
              </a:prstGeom>
              <a:blipFill>
                <a:blip r:embed="rId6"/>
                <a:stretch>
                  <a:fillRect l="-6531" t="-10667" b="-30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CD5CFCA-2782-9BC6-1DE5-495BD5841115}"/>
              </a:ext>
            </a:extLst>
          </p:cNvPr>
          <p:cNvSpPr txBox="1"/>
          <p:nvPr/>
        </p:nvSpPr>
        <p:spPr>
          <a:xfrm>
            <a:off x="5348378" y="6047870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(</a:t>
            </a:r>
            <a:r>
              <a:rPr lang="ko-KR" altLang="en-US"/>
              <a:t>코드 실행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3327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00258-A081-8838-796B-8F31F2AD0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AF6D32E-A01C-0B15-5C10-BFE0DB7E1E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/>
                  <a:t>이징 모델과 비슷하게 침투 이론에서도 </a:t>
                </a:r>
                <a:r>
                  <a:rPr lang="en-US" altLang="ko-KR"/>
                  <a:t>p</a:t>
                </a:r>
                <a:r>
                  <a:rPr lang="ko-KR" altLang="en-US"/>
                  <a:t>가 특정 값을 넘어가면 거대한 클러스터가 나오기 시작한다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이러한 상전이 현상은 다음과 같이 서술할 수 있다</a:t>
                </a:r>
                <a:r>
                  <a:rPr lang="en-US" altLang="ko-KR"/>
                  <a:t>.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r>
                  <a:rPr lang="ko-KR" altLang="en-US" b="0">
                    <a:latin typeface="Cambria Math" panose="02040503050406030204" pitchFamily="18" charset="0"/>
                  </a:rPr>
                  <a:t>다음을 만족하는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가 존재한다</a:t>
                </a:r>
                <a:r>
                  <a:rPr lang="en-US" altLang="ko-KR" b="0">
                    <a:latin typeface="Cambria Math" panose="02040503050406030204" pitchFamily="18" charset="0"/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보다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에 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에 무한히 큰 클러스터가 존재하지 않는다</a:t>
                </a:r>
                <a:r>
                  <a:rPr lang="en-US" altLang="ko-KR" b="0">
                    <a:latin typeface="Cambria Math" panose="02040503050406030204" pitchFamily="18" charset="0"/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보다 큰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에 대해서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에 무한히 큰 클러스터가 존재한다</a:t>
                </a:r>
                <a:r>
                  <a:rPr lang="en-US" altLang="ko-KR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endParaRPr lang="en-US" altLang="ko-KR"/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AF6D32E-A01C-0B15-5C10-BFE0DB7E1E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1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618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C5F22-7DF4-2A49-E158-3A176E89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FB6D1-89FF-531B-11DB-966DB06DC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 </a:t>
            </a:r>
            <a:r>
              <a:rPr lang="en-US" altLang="ko-KR"/>
              <a:t>: </a:t>
            </a:r>
            <a:r>
              <a:rPr lang="ko-KR" altLang="en-US"/>
              <a:t>증명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A852A6-B040-2325-27A1-D371BAD16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altLang="ko-KR"/>
          </a:p>
          <a:p>
            <a:r>
              <a:rPr lang="en-US" altLang="ko-KR"/>
              <a:t>Kolmogorov's zero–one law  : </a:t>
            </a:r>
            <a:r>
              <a:rPr lang="ko-KR" altLang="en-US"/>
              <a:t>무한한 독립 과정에서 장기적 특성이 나타날 확률은 </a:t>
            </a:r>
            <a:r>
              <a:rPr lang="en-US" altLang="ko-KR"/>
              <a:t>0</a:t>
            </a:r>
            <a:r>
              <a:rPr lang="ko-KR" altLang="en-US"/>
              <a:t>또는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en-US" altLang="ko-KR"/>
              <a:t>“</a:t>
            </a:r>
            <a:r>
              <a:rPr lang="ko-KR" altLang="en-US"/>
              <a:t>무한한 클러스터가 존재하는</a:t>
            </a:r>
            <a:r>
              <a:rPr lang="en-US" altLang="ko-KR"/>
              <a:t> </a:t>
            </a:r>
            <a:r>
              <a:rPr lang="ko-KR" altLang="en-US"/>
              <a:t>사건</a:t>
            </a:r>
            <a:r>
              <a:rPr lang="en-US" altLang="ko-KR"/>
              <a:t>”</a:t>
            </a:r>
            <a:r>
              <a:rPr lang="ko-KR" altLang="en-US"/>
              <a:t>이 발생할 확률도 </a:t>
            </a:r>
            <a:r>
              <a:rPr lang="en-US" altLang="ko-KR"/>
              <a:t>0 </a:t>
            </a:r>
            <a:r>
              <a:rPr lang="ko-KR" altLang="en-US"/>
              <a:t>또는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 </a:t>
            </a:r>
            <a:r>
              <a:rPr lang="ko-KR" altLang="en-US"/>
              <a:t>따라서</a:t>
            </a:r>
            <a:r>
              <a:rPr lang="en-US" altLang="ko-KR"/>
              <a:t> </a:t>
            </a:r>
            <a:r>
              <a:rPr lang="ko-KR" altLang="en-US"/>
              <a:t>간선에 할당된 수들에 상관없이</a:t>
            </a:r>
            <a:r>
              <a:rPr lang="en-US" altLang="ko-KR"/>
              <a:t>, “p = 0.9 </a:t>
            </a:r>
            <a:r>
              <a:rPr lang="ko-KR" altLang="en-US"/>
              <a:t>이면 무한클러스터가 반드시 존재한다</a:t>
            </a:r>
            <a:r>
              <a:rPr lang="en-US" altLang="ko-KR"/>
              <a:t>.”</a:t>
            </a:r>
            <a:r>
              <a:rPr lang="ko-KR" altLang="en-US"/>
              <a:t>와 같이 말할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2323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F07F89-B45A-DE24-F54C-3DB294E61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 </a:t>
            </a:r>
            <a:r>
              <a:rPr lang="en-US" altLang="ko-KR"/>
              <a:t>: </a:t>
            </a:r>
            <a:r>
              <a:rPr lang="ko-KR" altLang="en-US"/>
              <a:t>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AE7480B-9CDC-553B-8F34-0F6E92A7E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만약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/>
                  <a:t>이라면</a:t>
                </a:r>
                <a:r>
                  <a:rPr lang="en-US" altLang="ko-KR"/>
                  <a:t>, </a:t>
                </a:r>
                <a:r>
                  <a:rPr lang="ko-KR" altLang="en-US"/>
                  <a:t>그래프 내의 모든 간선이 존재하므로 그래프 자체가 하나의 무한 클러스터가 된다</a:t>
                </a:r>
                <a:r>
                  <a:rPr lang="en-US" altLang="ko-KR"/>
                  <a:t>.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이면 각 점들이 독립적으로 클러스터가 되므로 무한 클러스터는 존재하지 않는다</a:t>
                </a:r>
                <a:r>
                  <a:rPr lang="en-US" altLang="ko-KR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/>
                  <a:t>에 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의 부분 그래프이므로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/>
                  <a:t>일 때 무한 클러스터가 존재하면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/>
                  <a:t>일 때도 존재한다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따라서 중간에 무한클러스터의 존재여부가 바뀌는 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가 반드시 존재한다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AE7480B-9CDC-553B-8F34-0F6E92A7E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11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C213882-96A3-5320-F309-E42B3A16D49A}"/>
              </a:ext>
            </a:extLst>
          </p:cNvPr>
          <p:cNvCxnSpPr>
            <a:cxnSpLocks/>
          </p:cNvCxnSpPr>
          <p:nvPr/>
        </p:nvCxnSpPr>
        <p:spPr>
          <a:xfrm>
            <a:off x="3324045" y="5543909"/>
            <a:ext cx="2937024" cy="0"/>
          </a:xfrm>
          <a:prstGeom prst="line">
            <a:avLst/>
          </a:prstGeom>
          <a:ln w="57150">
            <a:solidFill>
              <a:srgbClr val="FF0000"/>
            </a:solidFill>
            <a:headEnd type="oval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36C083-D83B-0CA5-A50D-1F4728B94727}"/>
                  </a:ext>
                </a:extLst>
              </p:cNvPr>
              <p:cNvSpPr txBox="1"/>
              <p:nvPr/>
            </p:nvSpPr>
            <p:spPr>
              <a:xfrm>
                <a:off x="2827755" y="5800992"/>
                <a:ext cx="9925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36C083-D83B-0CA5-A50D-1F4728B94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55" y="5800992"/>
                <a:ext cx="992579" cy="461665"/>
              </a:xfrm>
              <a:prstGeom prst="rect">
                <a:avLst/>
              </a:prstGeom>
              <a:blipFill>
                <a:blip r:embed="rId3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D145FD-2BDC-8F0B-983D-73ED68DA8D64}"/>
                  </a:ext>
                </a:extLst>
              </p:cNvPr>
              <p:cNvSpPr txBox="1"/>
              <p:nvPr/>
            </p:nvSpPr>
            <p:spPr>
              <a:xfrm>
                <a:off x="8388918" y="5800992"/>
                <a:ext cx="9925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D145FD-2BDC-8F0B-983D-73ED68DA8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8918" y="5800992"/>
                <a:ext cx="992579" cy="461665"/>
              </a:xfrm>
              <a:prstGeom prst="rect">
                <a:avLst/>
              </a:prstGeom>
              <a:blipFill>
                <a:blip r:embed="rId4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F80973B-7B54-29A6-DA1A-73C0086CBF77}"/>
              </a:ext>
            </a:extLst>
          </p:cNvPr>
          <p:cNvCxnSpPr>
            <a:cxnSpLocks/>
          </p:cNvCxnSpPr>
          <p:nvPr/>
        </p:nvCxnSpPr>
        <p:spPr>
          <a:xfrm>
            <a:off x="6261069" y="5543909"/>
            <a:ext cx="2536166" cy="0"/>
          </a:xfrm>
          <a:prstGeom prst="line">
            <a:avLst/>
          </a:prstGeom>
          <a:ln w="57150">
            <a:solidFill>
              <a:srgbClr val="0070C0"/>
            </a:solidFill>
            <a:headEnd type="none" w="lg" len="lg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6B8CED6-BDA6-EEA4-63F6-31FD3ACF2FF7}"/>
              </a:ext>
            </a:extLst>
          </p:cNvPr>
          <p:cNvCxnSpPr>
            <a:cxnSpLocks/>
          </p:cNvCxnSpPr>
          <p:nvPr/>
        </p:nvCxnSpPr>
        <p:spPr>
          <a:xfrm>
            <a:off x="6261069" y="4856446"/>
            <a:ext cx="0" cy="1374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0B8268B-81B7-BA28-BB9E-D7B62FE66C41}"/>
              </a:ext>
            </a:extLst>
          </p:cNvPr>
          <p:cNvSpPr txBox="1"/>
          <p:nvPr/>
        </p:nvSpPr>
        <p:spPr>
          <a:xfrm>
            <a:off x="4026267" y="5692863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클러스터 존재</a:t>
            </a:r>
            <a:endParaRPr lang="en-US" altLang="ko-KR"/>
          </a:p>
          <a:p>
            <a:r>
              <a:rPr lang="ko-KR" altLang="en-US"/>
              <a:t>안 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946729-DE40-4DED-CD63-EE2BB217C6AB}"/>
              </a:ext>
            </a:extLst>
          </p:cNvPr>
          <p:cNvSpPr txBox="1"/>
          <p:nvPr/>
        </p:nvSpPr>
        <p:spPr>
          <a:xfrm>
            <a:off x="6356499" y="5692863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클러스터 존재함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0B4AFA9-0C39-62B0-FFD3-63C9EDD8D59F}"/>
                  </a:ext>
                </a:extLst>
              </p:cNvPr>
              <p:cNvSpPr txBox="1"/>
              <p:nvPr/>
            </p:nvSpPr>
            <p:spPr>
              <a:xfrm>
                <a:off x="6096000" y="6325916"/>
                <a:ext cx="4501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0B4AFA9-0C39-62B0-FFD3-63C9EDD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6325916"/>
                <a:ext cx="45018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899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07B7B829-9A14-14C5-6B1D-6D8B128B61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/>
                  <a:t>임계점 </a:t>
                </a:r>
                <a:r>
                  <a:rPr lang="en-US" altLang="ko-KR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ko-KR" altLang="en-US"/>
              </a:p>
            </p:txBody>
          </p:sp>
        </mc:Choice>
        <mc:Fallback xmlns="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07B7B829-9A14-14C5-6B1D-6D8B128B61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8E0D52-218C-31D2-7DCD-2F6707F24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475417"/>
              </a:xfrm>
            </p:spPr>
            <p:txBody>
              <a:bodyPr/>
              <a:lstStyle/>
              <a:p>
                <a:r>
                  <a:rPr lang="ko-KR" altLang="en-US"/>
                  <a:t>이 상전이가 발생하는 정확한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의 값은 </a:t>
                </a:r>
                <a:r>
                  <a:rPr lang="en-US" altLang="ko-KR"/>
                  <a:t>0.5</a:t>
                </a:r>
                <a:r>
                  <a:rPr lang="ko-KR" altLang="en-US"/>
                  <a:t>인 것으로 알려져 있다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/>
                  <a:t>Ising</a:t>
                </a:r>
                <a:r>
                  <a:rPr lang="ko-KR" altLang="en-US"/>
                  <a:t> </a:t>
                </a:r>
                <a:r>
                  <a:rPr lang="en-US" altLang="ko-KR"/>
                  <a:t>model</a:t>
                </a:r>
                <a:r>
                  <a:rPr lang="ko-KR" altLang="en-US"/>
                  <a:t> 과 마찬가지로</a:t>
                </a:r>
                <a:r>
                  <a:rPr lang="en-US" altLang="ko-KR"/>
                  <a:t>, </a:t>
                </a:r>
                <a:r>
                  <a:rPr lang="ko-KR" altLang="en-US"/>
                  <a:t>임계점에서 프랙탈이 나타나는 것으로 알려져있다</a:t>
                </a:r>
                <a:r>
                  <a:rPr lang="en-US" altLang="ko-KR"/>
                  <a:t>.(</a:t>
                </a:r>
                <a:r>
                  <a:rPr lang="ko-KR" altLang="en-US"/>
                  <a:t>미해결 문제</a:t>
                </a:r>
                <a:r>
                  <a:rPr lang="en-US" altLang="ko-KR"/>
                  <a:t>)</a:t>
                </a:r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D8E0D52-218C-31D2-7DCD-2F6707F24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475417"/>
              </a:xfrm>
              <a:blipFill>
                <a:blip r:embed="rId3"/>
                <a:stretch>
                  <a:fillRect l="-1043" t="-7819" b="-4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6490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A131F-CBE1-0B1C-24C4-795A3061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프랙탈 관찰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31645D-ED3C-F617-4994-BF519942C3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1" t="8928" r="41220" b="43139"/>
          <a:stretch>
            <a:fillRect/>
          </a:stretch>
        </p:blipFill>
        <p:spPr>
          <a:xfrm>
            <a:off x="634757" y="3973962"/>
            <a:ext cx="4933594" cy="251891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66B752C-1498-7EBA-EAE4-7E719E4C13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03" t="56860" r="46098" b="826"/>
          <a:stretch>
            <a:fillRect/>
          </a:stretch>
        </p:blipFill>
        <p:spPr>
          <a:xfrm>
            <a:off x="6392444" y="3818623"/>
            <a:ext cx="5164799" cy="2737451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B80DABF-AD8F-000C-6469-94ACCEBF2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28790"/>
          </a:xfrm>
        </p:spPr>
        <p:txBody>
          <a:bodyPr>
            <a:normAutofit/>
          </a:bodyPr>
          <a:lstStyle/>
          <a:p>
            <a:r>
              <a:rPr lang="en-US" altLang="ko-KR"/>
              <a:t>Box Counting Method</a:t>
            </a:r>
            <a:r>
              <a:rPr lang="ko-KR" altLang="en-US"/>
              <a:t>를 통해서 프랙탈인지 여부와 프랙탈 차원을 확인할 수 있다</a:t>
            </a:r>
            <a:r>
              <a:rPr lang="en-US" altLang="ko-KR"/>
              <a:t>. </a:t>
            </a:r>
          </a:p>
          <a:p>
            <a:r>
              <a:rPr lang="ko-KR" altLang="en-US"/>
              <a:t>박스의 크기 </a:t>
            </a:r>
            <a:r>
              <a:rPr lang="en-US" altLang="ko-KR"/>
              <a:t>s</a:t>
            </a:r>
            <a:r>
              <a:rPr lang="ko-KR" altLang="en-US"/>
              <a:t>와 도형을 덮기 위한 박스의 개수 </a:t>
            </a:r>
            <a:r>
              <a:rPr lang="en-US" altLang="ko-KR"/>
              <a:t>N</a:t>
            </a:r>
            <a:r>
              <a:rPr lang="ko-KR" altLang="en-US"/>
              <a:t>에 대하여 </a:t>
            </a:r>
            <a:r>
              <a:rPr lang="en-US" altLang="ko-KR"/>
              <a:t>log – log plot</a:t>
            </a:r>
            <a:r>
              <a:rPr lang="ko-KR" altLang="en-US"/>
              <a:t>이 선형적이라면</a:t>
            </a:r>
            <a:r>
              <a:rPr lang="en-US" altLang="ko-KR"/>
              <a:t>,  </a:t>
            </a:r>
            <a:r>
              <a:rPr lang="ko-KR" altLang="en-US"/>
              <a:t>자기유사성을 띈다고 말할 수 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21780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D013C-8F0C-1CA6-7F8A-9A2E007CD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프랙탈 관찰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F34FF76-A811-86D1-F857-9F127748D6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만약 자기유사성을 띄고</a:t>
                </a:r>
                <a:r>
                  <a:rPr lang="en-US" altLang="ko-KR"/>
                  <a:t>, </a:t>
                </a:r>
                <a:r>
                  <a:rPr lang="ko-KR" altLang="en-US"/>
                  <a:t>프랙탈 차원이 정수가 아니라면</a:t>
                </a:r>
                <a:r>
                  <a:rPr lang="en-US" altLang="ko-KR"/>
                  <a:t>, </a:t>
                </a:r>
                <a:r>
                  <a:rPr lang="ko-KR" altLang="en-US"/>
                  <a:t>그것은 </a:t>
                </a:r>
                <a:r>
                  <a:rPr lang="en-US" altLang="ko-KR"/>
                  <a:t>1,2,3</a:t>
                </a:r>
                <a:r>
                  <a:rPr lang="ko-KR" altLang="en-US"/>
                  <a:t>차원 도형이 아닌 프랙탈임을 알 수 있다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각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/>
                  <a:t> 대해서 차원을 구하면 </a:t>
                </a:r>
                <a:r>
                  <a:rPr lang="en-US" altLang="ko-KR"/>
                  <a:t>0.5</a:t>
                </a:r>
                <a:r>
                  <a:rPr lang="ko-KR" altLang="en-US"/>
                  <a:t>일 때 차원이 </a:t>
                </a:r>
                <a:r>
                  <a:rPr lang="en-US" altLang="ko-KR"/>
                  <a:t>1.832</a:t>
                </a:r>
                <a:r>
                  <a:rPr lang="ko-KR" altLang="en-US"/>
                  <a:t>이고</a:t>
                </a:r>
                <a:r>
                  <a:rPr lang="en-US" altLang="ko-KR"/>
                  <a:t>, </a:t>
                </a:r>
                <a:r>
                  <a:rPr lang="ko-KR" altLang="en-US"/>
                  <a:t>그 이후에는 </a:t>
                </a:r>
                <a:r>
                  <a:rPr lang="en-US" altLang="ko-KR"/>
                  <a:t>2</a:t>
                </a:r>
                <a:r>
                  <a:rPr lang="ko-KR" altLang="en-US"/>
                  <a:t>에 가까운 것을 확인 할 수 있다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F34FF76-A811-86D1-F857-9F127748D6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33C2D06-6E5F-01C1-7EEE-1C394B1B1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600" y="3492479"/>
            <a:ext cx="8417071" cy="3186002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33250F9-5E2B-0B78-9BA1-781EE7220660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4318958"/>
            <a:ext cx="1305464" cy="9604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02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76996-0425-2D32-80B4-9F68F71BB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</a:t>
            </a:r>
            <a:r>
              <a:rPr lang="ko-KR" altLang="en-US"/>
              <a:t>차원 퍼콜레이션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7B4BAC2-8F81-BCF0-0065-5931B575AB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/>
                  <a:t>3</a:t>
                </a:r>
                <a:r>
                  <a:rPr lang="ko-KR" altLang="en-US"/>
                  <a:t>차원에서도 </a:t>
                </a:r>
                <a:r>
                  <a:rPr lang="en-US" altLang="ko-KR"/>
                  <a:t>“3</a:t>
                </a:r>
                <a:r>
                  <a:rPr lang="ko-KR" altLang="en-US"/>
                  <a:t>차원 격자 그래프</a:t>
                </a:r>
                <a:r>
                  <a:rPr lang="en-US" altLang="ko-KR"/>
                  <a:t>”</a:t>
                </a:r>
                <a:r>
                  <a:rPr lang="ko-KR" altLang="en-US"/>
                  <a:t>를 통해 퍼콜레이션 모델을 만들 수 있다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이 경우에도 동일하게 상 전이 현상이 발생한다는 것을 알 수 있다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/>
                  <a:t>3</a:t>
                </a:r>
                <a:r>
                  <a:rPr lang="ko-KR" altLang="en-US"/>
                  <a:t>차원일 때 임계점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를 구해보자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7B4BAC2-8F81-BCF0-0065-5931B575AB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9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8192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913DC3-DB1A-AA38-B548-02C9C435D55B}"/>
              </a:ext>
            </a:extLst>
          </p:cNvPr>
          <p:cNvSpPr txBox="1"/>
          <p:nvPr/>
        </p:nvSpPr>
        <p:spPr>
          <a:xfrm>
            <a:off x="6676845" y="2547668"/>
            <a:ext cx="506083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위와같이 </a:t>
            </a:r>
            <a:r>
              <a:rPr lang="en-US" altLang="ko-KR"/>
              <a:t>2.4</a:t>
            </a:r>
            <a:r>
              <a:rPr lang="ko-KR" altLang="en-US"/>
              <a:t>일 때까지는 </a:t>
            </a:r>
            <a:r>
              <a:rPr lang="en-US" altLang="ko-KR"/>
              <a:t>0</a:t>
            </a:r>
            <a:r>
              <a:rPr lang="ko-KR" altLang="en-US"/>
              <a:t>에 가까운 값을 가졌다가</a:t>
            </a:r>
            <a:r>
              <a:rPr lang="en-US" altLang="ko-KR"/>
              <a:t>, 2.25</a:t>
            </a:r>
            <a:r>
              <a:rPr lang="ko-KR" altLang="en-US"/>
              <a:t>일 때 갑자기 커지는 걸 보면 임계값은 </a:t>
            </a:r>
            <a:r>
              <a:rPr lang="en-US" altLang="ko-KR"/>
              <a:t>0.24~0.25 </a:t>
            </a:r>
            <a:r>
              <a:rPr lang="ko-KR" altLang="en-US"/>
              <a:t>임을 알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임계값의 정확한 값은 미해결 문제이다</a:t>
            </a:r>
            <a:r>
              <a:rPr lang="en-US" altLang="ko-KR"/>
              <a:t>.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99CC68-4396-B02E-0CB1-EC011DACD0D3}"/>
                  </a:ext>
                </a:extLst>
              </p:cNvPr>
              <p:cNvSpPr txBox="1"/>
              <p:nvPr/>
            </p:nvSpPr>
            <p:spPr>
              <a:xfrm>
                <a:off x="1926566" y="655607"/>
                <a:ext cx="38311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에 따른 최대 클러스터 크기 그래프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99CC68-4396-B02E-0CB1-EC011DACD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6566" y="655607"/>
                <a:ext cx="3831113" cy="369332"/>
              </a:xfrm>
              <a:prstGeom prst="rect">
                <a:avLst/>
              </a:prstGeom>
              <a:blipFill>
                <a:blip r:embed="rId2"/>
                <a:stretch>
                  <a:fillRect t="-13333" b="-2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>
            <a:extLst>
              <a:ext uri="{FF2B5EF4-FFF2-40B4-BE49-F238E27FC236}">
                <a16:creationId xmlns:a16="http://schemas.microsoft.com/office/drawing/2014/main" id="{D9AFC953-8AF0-8D94-692E-AABECCAB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840"/>
          <a:stretch>
            <a:fillRect/>
          </a:stretch>
        </p:blipFill>
        <p:spPr>
          <a:xfrm>
            <a:off x="851139" y="1288210"/>
            <a:ext cx="5337181" cy="505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7370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921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766</TotalTime>
  <Words>668</Words>
  <Application>Microsoft Office PowerPoint</Application>
  <PresentationFormat>와이드스크린</PresentationFormat>
  <Paragraphs>76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Office Theme</vt:lpstr>
      <vt:lpstr>침투 이론 (Percolation Theory)</vt:lpstr>
      <vt:lpstr>이론적 배경 : 그래프</vt:lpstr>
      <vt:lpstr>이론적 배경 : 격자 그래프</vt:lpstr>
      <vt:lpstr>이론적 배경 : 클러스터</vt:lpstr>
      <vt:lpstr>침투 이론이란?</vt:lpstr>
      <vt:lpstr>침투 이론이란?</vt:lpstr>
      <vt:lpstr>침투 이론 모델링 : 커플링</vt:lpstr>
      <vt:lpstr>PowerPoint 프레젠테이션</vt:lpstr>
      <vt:lpstr>상전이 현상</vt:lpstr>
      <vt:lpstr>상전이 현상 : 증명</vt:lpstr>
      <vt:lpstr>상전이 현상 : 증명</vt:lpstr>
      <vt:lpstr>임계점 : p_c=0.5</vt:lpstr>
      <vt:lpstr>프랙탈 관찰</vt:lpstr>
      <vt:lpstr>프랙탈 관찰</vt:lpstr>
      <vt:lpstr>3차원 퍼콜레이션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강효민</dc:creator>
  <cp:lastModifiedBy>강효민</cp:lastModifiedBy>
  <cp:revision>10</cp:revision>
  <dcterms:created xsi:type="dcterms:W3CDTF">2025-11-16T13:15:25Z</dcterms:created>
  <dcterms:modified xsi:type="dcterms:W3CDTF">2025-11-17T14:22:58Z</dcterms:modified>
</cp:coreProperties>
</file>