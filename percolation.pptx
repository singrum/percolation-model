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2"/>
  </p:notesMasterIdLst>
  <p:sldIdLst>
    <p:sldId id="256" r:id="rId2"/>
    <p:sldId id="259" r:id="rId3"/>
    <p:sldId id="260" r:id="rId4"/>
    <p:sldId id="261" r:id="rId5"/>
    <p:sldId id="257" r:id="rId6"/>
    <p:sldId id="258" r:id="rId7"/>
    <p:sldId id="263" r:id="rId8"/>
    <p:sldId id="265" r:id="rId9"/>
    <p:sldId id="262" r:id="rId10"/>
    <p:sldId id="266" r:id="rId11"/>
    <p:sldId id="267" r:id="rId12"/>
    <p:sldId id="264" r:id="rId13"/>
    <p:sldId id="273" r:id="rId14"/>
    <p:sldId id="279" r:id="rId15"/>
    <p:sldId id="275" r:id="rId16"/>
    <p:sldId id="268" r:id="rId17"/>
    <p:sldId id="269" r:id="rId18"/>
    <p:sldId id="270" r:id="rId19"/>
    <p:sldId id="271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A6493F-1E59-4702-B0CC-C366A1B914E0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EC85FE-98C0-4CB2-9782-5C8FEDF6FD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2870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C85FE-98C0-4CB2-9782-5C8FEDF6FD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0306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EC85FE-98C0-4CB2-9782-5C8FEDF6FDA6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56432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7524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5770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6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0674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0687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36568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04847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1667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508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00646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02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6668BB-5AA0-4DD2-8735-45AC13F760A9}" type="datetimeFigureOut">
              <a:rPr lang="ko-KR" altLang="en-US" smtClean="0"/>
              <a:t>2025-11-20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690F67-1CFE-46ED-B42C-1EA9A1BAC94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5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a-767WnbaCQ?si=As8K63mNwEat1u32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A417E4-C602-49D0-A4D5-217090F5E5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/>
              <a:t>침투 이론</a:t>
            </a:r>
            <a:br>
              <a:rPr lang="en-US" altLang="ko-KR"/>
            </a:br>
            <a:r>
              <a:rPr lang="en-US" altLang="ko-KR"/>
              <a:t>(Percolation</a:t>
            </a:r>
            <a:r>
              <a:rPr lang="ko-KR" altLang="en-US"/>
              <a:t> </a:t>
            </a:r>
            <a:r>
              <a:rPr lang="en-US" altLang="ko-KR"/>
              <a:t>Theory)</a:t>
            </a:r>
            <a:endParaRPr lang="ko-KR" altLang="en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F86AADA-01FD-6B95-9366-3277820E6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03653"/>
            <a:ext cx="9144000" cy="1655762"/>
          </a:xfrm>
        </p:spPr>
        <p:txBody>
          <a:bodyPr/>
          <a:lstStyle/>
          <a:p>
            <a:r>
              <a:rPr lang="ko-KR" altLang="en-US"/>
              <a:t>전산물리학</a:t>
            </a:r>
            <a:r>
              <a:rPr lang="en-US" altLang="ko-KR"/>
              <a:t>2 </a:t>
            </a:r>
            <a:r>
              <a:rPr lang="ko-KR" altLang="en-US"/>
              <a:t>강효민</a:t>
            </a:r>
          </a:p>
        </p:txBody>
      </p:sp>
    </p:spTree>
    <p:extLst>
      <p:ext uri="{BB962C8B-B14F-4D97-AF65-F5344CB8AC3E}">
        <p14:creationId xmlns:p14="http://schemas.microsoft.com/office/powerpoint/2010/main" val="17522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D37EF7-FEB3-D587-B8E1-FAC25DF7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이론적 배경 </a:t>
            </a:r>
            <a:r>
              <a:rPr lang="en-US" altLang="ko-KR"/>
              <a:t>: </a:t>
            </a:r>
            <a:r>
              <a:rPr lang="ko-KR" altLang="en-US"/>
              <a:t>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30841-A4BB-A2E5-4355-C7DB1CBA3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점들의 집합과</a:t>
            </a:r>
            <a:r>
              <a:rPr lang="en-US" altLang="ko-KR"/>
              <a:t>, </a:t>
            </a:r>
            <a:r>
              <a:rPr lang="ko-KR" altLang="en-US"/>
              <a:t>그 점들을 잇는 간선들의 집합의 순서쌍을 </a:t>
            </a:r>
            <a:r>
              <a:rPr lang="ko-KR" altLang="en-US" b="1"/>
              <a:t>그래프</a:t>
            </a:r>
            <a:r>
              <a:rPr lang="ko-KR" altLang="en-US"/>
              <a:t>라고 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예시</a:t>
            </a:r>
            <a:endParaRPr lang="en-US" altLang="ko-KR"/>
          </a:p>
          <a:p>
            <a:pPr marL="0" indent="0">
              <a:buNone/>
            </a:pPr>
            <a:r>
              <a:rPr lang="ko-KR" altLang="en-US"/>
              <a:t>점 집합 </a:t>
            </a:r>
            <a:r>
              <a:rPr lang="en-US" altLang="ko-KR"/>
              <a:t>V = {1,2,3,4,5}</a:t>
            </a:r>
          </a:p>
          <a:p>
            <a:pPr marL="0" indent="0">
              <a:buNone/>
            </a:pPr>
            <a:r>
              <a:rPr lang="ko-KR" altLang="en-US"/>
              <a:t>간선 집합 </a:t>
            </a:r>
            <a:r>
              <a:rPr lang="en-US" altLang="ko-KR"/>
              <a:t>E = {{1,2}, {2,3}, {3,4}, {1,5}, {2,5}, {3,5}}</a:t>
            </a:r>
          </a:p>
          <a:p>
            <a:pPr marL="0" indent="0">
              <a:buNone/>
            </a:pPr>
            <a:r>
              <a:rPr lang="ko-KR" altLang="en-US"/>
              <a:t>그래프 </a:t>
            </a:r>
            <a:r>
              <a:rPr lang="en-US" altLang="ko-KR"/>
              <a:t>G = (V,E)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F8F474B8-D829-0A05-B248-F897D710F5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9206" y="2800689"/>
            <a:ext cx="3186744" cy="3197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969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FCDD9-DA03-733A-A7AC-D4F7B9895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이론적 배경 </a:t>
            </a:r>
            <a:r>
              <a:rPr lang="en-US" altLang="ko-KR"/>
              <a:t>: </a:t>
            </a:r>
            <a:r>
              <a:rPr lang="ko-KR" altLang="en-US"/>
              <a:t>격자 그래프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2E1033-E06C-F1D4-AF2E-AE39982ED8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8117"/>
            <a:ext cx="10515600" cy="4351338"/>
          </a:xfrm>
        </p:spPr>
        <p:txBody>
          <a:bodyPr/>
          <a:lstStyle/>
          <a:p>
            <a:r>
              <a:rPr lang="ko-KR" altLang="en-US"/>
              <a:t>정사각형 격자처럼 점들이 규칙적으로 배열되어 있고</a:t>
            </a:r>
            <a:r>
              <a:rPr lang="en-US" altLang="ko-KR"/>
              <a:t>, </a:t>
            </a:r>
            <a:r>
              <a:rPr lang="ko-KR" altLang="en-US"/>
              <a:t>각 점이 상하좌우로 인접한 점들과</a:t>
            </a:r>
            <a:r>
              <a:rPr lang="en-US" altLang="ko-KR"/>
              <a:t> </a:t>
            </a:r>
            <a:r>
              <a:rPr lang="ko-KR" altLang="en-US"/>
              <a:t>간선으로 연결된 그래프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D9208C1-AD94-04CC-6A4F-F88B90206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0309" y="3045807"/>
            <a:ext cx="2445964" cy="18128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1C64403-2E6D-E429-E6B1-F36AD3247BBF}"/>
              </a:ext>
            </a:extLst>
          </p:cNvPr>
          <p:cNvSpPr txBox="1"/>
          <p:nvPr/>
        </p:nvSpPr>
        <p:spPr>
          <a:xfrm>
            <a:off x="1856007" y="3682176"/>
            <a:ext cx="32031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/>
              <a:t>10 x 10 </a:t>
            </a:r>
            <a:r>
              <a:rPr lang="ko-KR" altLang="en-US" sz="2800"/>
              <a:t>격자 그래프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B80B8A72-D12A-CE4C-CBDA-EF77385575E8}"/>
              </a:ext>
            </a:extLst>
          </p:cNvPr>
          <p:cNvCxnSpPr/>
          <p:nvPr/>
        </p:nvCxnSpPr>
        <p:spPr>
          <a:xfrm>
            <a:off x="5750944" y="3887638"/>
            <a:ext cx="644105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8F3F99A-CB27-F17A-3ACA-B3C5055D577D}"/>
              </a:ext>
            </a:extLst>
          </p:cNvPr>
          <p:cNvSpPr txBox="1"/>
          <p:nvPr/>
        </p:nvSpPr>
        <p:spPr>
          <a:xfrm>
            <a:off x="1138207" y="5451323"/>
            <a:ext cx="922547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/>
              <a:t>Percolation</a:t>
            </a:r>
            <a:r>
              <a:rPr lang="ko-KR" altLang="en-US" sz="2800"/>
              <a:t> </a:t>
            </a:r>
            <a:r>
              <a:rPr lang="en-US" altLang="ko-KR" sz="2800"/>
              <a:t>theory</a:t>
            </a:r>
            <a:r>
              <a:rPr lang="ko-KR" altLang="en-US" sz="2800"/>
              <a:t>는 무한한 크기의 격자 그래프를 다룬다</a:t>
            </a:r>
            <a:r>
              <a:rPr lang="en-US" altLang="ko-KR" sz="2800"/>
              <a:t>.</a:t>
            </a:r>
            <a:endParaRPr lang="ko-KR" altLang="en-US" sz="2800"/>
          </a:p>
        </p:txBody>
      </p:sp>
    </p:spTree>
    <p:extLst>
      <p:ext uri="{BB962C8B-B14F-4D97-AF65-F5344CB8AC3E}">
        <p14:creationId xmlns:p14="http://schemas.microsoft.com/office/powerpoint/2010/main" val="13699000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7C6870-840F-56ED-8100-7DCE0BEA8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이론적 배경 </a:t>
            </a:r>
            <a:r>
              <a:rPr lang="en-US" altLang="ko-KR"/>
              <a:t>: </a:t>
            </a:r>
            <a:r>
              <a:rPr lang="ko-KR" altLang="en-US"/>
              <a:t>클러스터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BA38F02-1F2A-73BD-B6A4-39AE757A91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3508" y="1967924"/>
            <a:ext cx="3885941" cy="37476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81CDAF8-31FE-C52A-0F9E-372B5FCC8A1B}"/>
              </a:ext>
            </a:extLst>
          </p:cNvPr>
          <p:cNvSpPr txBox="1"/>
          <p:nvPr/>
        </p:nvSpPr>
        <p:spPr>
          <a:xfrm>
            <a:off x="523336" y="2886973"/>
            <a:ext cx="517995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/>
              <a:t>그래프내에서 연결된</a:t>
            </a:r>
            <a:r>
              <a:rPr lang="en-US" altLang="ko-KR" sz="2400"/>
              <a:t> </a:t>
            </a:r>
            <a:r>
              <a:rPr lang="ko-KR" altLang="en-US" sz="2400"/>
              <a:t>정점들끼리 모은 것을 클러스터라고 한다</a:t>
            </a:r>
            <a:r>
              <a:rPr lang="en-US" altLang="ko-KR" sz="2400"/>
              <a:t>.</a:t>
            </a:r>
          </a:p>
          <a:p>
            <a:endParaRPr lang="en-US" altLang="ko-KR" sz="2400"/>
          </a:p>
          <a:p>
            <a:r>
              <a:rPr lang="ko-KR" altLang="en-US" sz="2400"/>
              <a:t>옆의 그림에서는 </a:t>
            </a:r>
            <a:r>
              <a:rPr lang="en-US" altLang="ko-KR" sz="2400"/>
              <a:t>3</a:t>
            </a:r>
            <a:r>
              <a:rPr lang="ko-KR" altLang="en-US" sz="2400"/>
              <a:t>개의 클러스터가 존재한다</a:t>
            </a:r>
            <a:r>
              <a:rPr lang="en-US" altLang="ko-KR" sz="2400"/>
              <a:t>.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FF6507B1-58B9-A0B0-FA4B-4D7256697986}"/>
              </a:ext>
            </a:extLst>
          </p:cNvPr>
          <p:cNvSpPr/>
          <p:nvPr/>
        </p:nvSpPr>
        <p:spPr>
          <a:xfrm>
            <a:off x="6418052" y="1815922"/>
            <a:ext cx="1236453" cy="1200329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자유형: 도형 7">
            <a:extLst>
              <a:ext uri="{FF2B5EF4-FFF2-40B4-BE49-F238E27FC236}">
                <a16:creationId xmlns:a16="http://schemas.microsoft.com/office/drawing/2014/main" id="{C3324756-637F-9A78-693B-4D88BED40FB4}"/>
              </a:ext>
            </a:extLst>
          </p:cNvPr>
          <p:cNvSpPr/>
          <p:nvPr/>
        </p:nvSpPr>
        <p:spPr>
          <a:xfrm>
            <a:off x="6417840" y="1566456"/>
            <a:ext cx="4221405" cy="3026888"/>
          </a:xfrm>
          <a:custGeom>
            <a:avLst/>
            <a:gdLst>
              <a:gd name="connsiteX0" fmla="*/ 213 w 4221405"/>
              <a:gd name="connsiteY0" fmla="*/ 1740336 h 3026888"/>
              <a:gd name="connsiteX1" fmla="*/ 282009 w 4221405"/>
              <a:gd name="connsiteY1" fmla="*/ 1510299 h 3026888"/>
              <a:gd name="connsiteX2" fmla="*/ 1144651 w 4221405"/>
              <a:gd name="connsiteY2" fmla="*/ 1464291 h 3026888"/>
              <a:gd name="connsiteX3" fmla="*/ 1357435 w 4221405"/>
              <a:gd name="connsiteY3" fmla="*/ 1055974 h 3026888"/>
              <a:gd name="connsiteX4" fmla="*/ 1299926 w 4221405"/>
              <a:gd name="connsiteY4" fmla="*/ 337106 h 3026888"/>
              <a:gd name="connsiteX5" fmla="*/ 1736998 w 4221405"/>
              <a:gd name="connsiteY5" fmla="*/ 130072 h 3026888"/>
              <a:gd name="connsiteX6" fmla="*/ 3761330 w 4221405"/>
              <a:gd name="connsiteY6" fmla="*/ 84065 h 3026888"/>
              <a:gd name="connsiteX7" fmla="*/ 4221405 w 4221405"/>
              <a:gd name="connsiteY7" fmla="*/ 1297514 h 3026888"/>
              <a:gd name="connsiteX8" fmla="*/ 3761330 w 4221405"/>
              <a:gd name="connsiteY8" fmla="*/ 2602978 h 3026888"/>
              <a:gd name="connsiteX9" fmla="*/ 2766417 w 4221405"/>
              <a:gd name="connsiteY9" fmla="*/ 2769755 h 3026888"/>
              <a:gd name="connsiteX10" fmla="*/ 2116560 w 4221405"/>
              <a:gd name="connsiteY10" fmla="*/ 2234918 h 3026888"/>
              <a:gd name="connsiteX11" fmla="*/ 1593224 w 4221405"/>
              <a:gd name="connsiteY11" fmla="*/ 2637484 h 3026888"/>
              <a:gd name="connsiteX12" fmla="*/ 1098643 w 4221405"/>
              <a:gd name="connsiteY12" fmla="*/ 2896276 h 3026888"/>
              <a:gd name="connsiteX13" fmla="*/ 253254 w 4221405"/>
              <a:gd name="connsiteY13" fmla="*/ 2942284 h 3026888"/>
              <a:gd name="connsiteX14" fmla="*/ 213 w 4221405"/>
              <a:gd name="connsiteY14" fmla="*/ 1740336 h 3026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4221405" h="3026888">
                <a:moveTo>
                  <a:pt x="213" y="1740336"/>
                </a:moveTo>
                <a:cubicBezTo>
                  <a:pt x="5005" y="1501672"/>
                  <a:pt x="91269" y="1556306"/>
                  <a:pt x="282009" y="1510299"/>
                </a:cubicBezTo>
                <a:cubicBezTo>
                  <a:pt x="472749" y="1464292"/>
                  <a:pt x="965413" y="1540012"/>
                  <a:pt x="1144651" y="1464291"/>
                </a:cubicBezTo>
                <a:cubicBezTo>
                  <a:pt x="1323889" y="1388570"/>
                  <a:pt x="1331556" y="1243838"/>
                  <a:pt x="1357435" y="1055974"/>
                </a:cubicBezTo>
                <a:cubicBezTo>
                  <a:pt x="1383314" y="868110"/>
                  <a:pt x="1236666" y="491423"/>
                  <a:pt x="1299926" y="337106"/>
                </a:cubicBezTo>
                <a:cubicBezTo>
                  <a:pt x="1363186" y="182789"/>
                  <a:pt x="1326764" y="172245"/>
                  <a:pt x="1736998" y="130072"/>
                </a:cubicBezTo>
                <a:cubicBezTo>
                  <a:pt x="2147232" y="87899"/>
                  <a:pt x="3347262" y="-110509"/>
                  <a:pt x="3761330" y="84065"/>
                </a:cubicBezTo>
                <a:cubicBezTo>
                  <a:pt x="4175398" y="278639"/>
                  <a:pt x="4221405" y="877695"/>
                  <a:pt x="4221405" y="1297514"/>
                </a:cubicBezTo>
                <a:cubicBezTo>
                  <a:pt x="4221405" y="1717333"/>
                  <a:pt x="4003828" y="2357605"/>
                  <a:pt x="3761330" y="2602978"/>
                </a:cubicBezTo>
                <a:cubicBezTo>
                  <a:pt x="3518832" y="2848351"/>
                  <a:pt x="3040545" y="2831098"/>
                  <a:pt x="2766417" y="2769755"/>
                </a:cubicBezTo>
                <a:cubicBezTo>
                  <a:pt x="2492289" y="2708412"/>
                  <a:pt x="2312092" y="2256963"/>
                  <a:pt x="2116560" y="2234918"/>
                </a:cubicBezTo>
                <a:cubicBezTo>
                  <a:pt x="1921028" y="2212873"/>
                  <a:pt x="1762877" y="2527258"/>
                  <a:pt x="1593224" y="2637484"/>
                </a:cubicBezTo>
                <a:cubicBezTo>
                  <a:pt x="1423571" y="2747710"/>
                  <a:pt x="1321971" y="2845476"/>
                  <a:pt x="1098643" y="2896276"/>
                </a:cubicBezTo>
                <a:cubicBezTo>
                  <a:pt x="875315" y="2947076"/>
                  <a:pt x="435367" y="3133982"/>
                  <a:pt x="253254" y="2942284"/>
                </a:cubicBezTo>
                <a:cubicBezTo>
                  <a:pt x="71141" y="2750586"/>
                  <a:pt x="-4579" y="1979000"/>
                  <a:pt x="213" y="1740336"/>
                </a:cubicBezTo>
                <a:close/>
              </a:path>
            </a:pathLst>
          </a:custGeom>
          <a:noFill/>
          <a:ln w="5715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자유형: 도형 8">
            <a:extLst>
              <a:ext uri="{FF2B5EF4-FFF2-40B4-BE49-F238E27FC236}">
                <a16:creationId xmlns:a16="http://schemas.microsoft.com/office/drawing/2014/main" id="{8F8B2B15-EEB4-F30F-7CFB-1E73BBC7A277}"/>
              </a:ext>
            </a:extLst>
          </p:cNvPr>
          <p:cNvSpPr/>
          <p:nvPr/>
        </p:nvSpPr>
        <p:spPr>
          <a:xfrm>
            <a:off x="6466581" y="3884892"/>
            <a:ext cx="3748344" cy="1550454"/>
          </a:xfrm>
          <a:custGeom>
            <a:avLst/>
            <a:gdLst>
              <a:gd name="connsiteX0" fmla="*/ 14732 w 3748344"/>
              <a:gd name="connsiteY0" fmla="*/ 1210444 h 1550454"/>
              <a:gd name="connsiteX1" fmla="*/ 181510 w 3748344"/>
              <a:gd name="connsiteY1" fmla="*/ 825131 h 1550454"/>
              <a:gd name="connsiteX2" fmla="*/ 854370 w 3748344"/>
              <a:gd name="connsiteY2" fmla="*/ 825131 h 1550454"/>
              <a:gd name="connsiteX3" fmla="*/ 1515728 w 3748344"/>
              <a:gd name="connsiteY3" fmla="*/ 652602 h 1550454"/>
              <a:gd name="connsiteX4" fmla="*/ 1786023 w 3748344"/>
              <a:gd name="connsiteY4" fmla="*/ 273040 h 1550454"/>
              <a:gd name="connsiteX5" fmla="*/ 2113827 w 3748344"/>
              <a:gd name="connsiteY5" fmla="*/ 2746 h 1550454"/>
              <a:gd name="connsiteX6" fmla="*/ 2384121 w 3748344"/>
              <a:gd name="connsiteY6" fmla="*/ 439817 h 1550454"/>
              <a:gd name="connsiteX7" fmla="*/ 2844196 w 3748344"/>
              <a:gd name="connsiteY7" fmla="*/ 595093 h 1550454"/>
              <a:gd name="connsiteX8" fmla="*/ 3626325 w 3748344"/>
              <a:gd name="connsiteY8" fmla="*/ 658353 h 1550454"/>
              <a:gd name="connsiteX9" fmla="*/ 3683834 w 3748344"/>
              <a:gd name="connsiteY9" fmla="*/ 1095425 h 1550454"/>
              <a:gd name="connsiteX10" fmla="*/ 3010974 w 3748344"/>
              <a:gd name="connsiteY10" fmla="*/ 1526746 h 1550454"/>
              <a:gd name="connsiteX11" fmla="*/ 348287 w 3748344"/>
              <a:gd name="connsiteY11" fmla="*/ 1463485 h 1550454"/>
              <a:gd name="connsiteX12" fmla="*/ 14732 w 3748344"/>
              <a:gd name="connsiteY12" fmla="*/ 1210444 h 1550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748344" h="1550454">
                <a:moveTo>
                  <a:pt x="14732" y="1210444"/>
                </a:moveTo>
                <a:cubicBezTo>
                  <a:pt x="-13064" y="1104052"/>
                  <a:pt x="41570" y="889350"/>
                  <a:pt x="181510" y="825131"/>
                </a:cubicBezTo>
                <a:cubicBezTo>
                  <a:pt x="321450" y="760912"/>
                  <a:pt x="632001" y="853886"/>
                  <a:pt x="854370" y="825131"/>
                </a:cubicBezTo>
                <a:cubicBezTo>
                  <a:pt x="1076739" y="796376"/>
                  <a:pt x="1360453" y="744617"/>
                  <a:pt x="1515728" y="652602"/>
                </a:cubicBezTo>
                <a:cubicBezTo>
                  <a:pt x="1671004" y="560587"/>
                  <a:pt x="1686340" y="381349"/>
                  <a:pt x="1786023" y="273040"/>
                </a:cubicBezTo>
                <a:cubicBezTo>
                  <a:pt x="1885706" y="164731"/>
                  <a:pt x="2014144" y="-25050"/>
                  <a:pt x="2113827" y="2746"/>
                </a:cubicBezTo>
                <a:cubicBezTo>
                  <a:pt x="2213510" y="30542"/>
                  <a:pt x="2262393" y="341092"/>
                  <a:pt x="2384121" y="439817"/>
                </a:cubicBezTo>
                <a:cubicBezTo>
                  <a:pt x="2505849" y="538541"/>
                  <a:pt x="2637162" y="558670"/>
                  <a:pt x="2844196" y="595093"/>
                </a:cubicBezTo>
                <a:cubicBezTo>
                  <a:pt x="3051230" y="631516"/>
                  <a:pt x="3486385" y="574964"/>
                  <a:pt x="3626325" y="658353"/>
                </a:cubicBezTo>
                <a:cubicBezTo>
                  <a:pt x="3766265" y="741742"/>
                  <a:pt x="3786392" y="950693"/>
                  <a:pt x="3683834" y="1095425"/>
                </a:cubicBezTo>
                <a:cubicBezTo>
                  <a:pt x="3581276" y="1240157"/>
                  <a:pt x="3566899" y="1465403"/>
                  <a:pt x="3010974" y="1526746"/>
                </a:cubicBezTo>
                <a:cubicBezTo>
                  <a:pt x="2455049" y="1588089"/>
                  <a:pt x="848619" y="1517160"/>
                  <a:pt x="348287" y="1463485"/>
                </a:cubicBezTo>
                <a:cubicBezTo>
                  <a:pt x="-152045" y="1409810"/>
                  <a:pt x="42528" y="1316836"/>
                  <a:pt x="14732" y="1210444"/>
                </a:cubicBezTo>
                <a:close/>
              </a:path>
            </a:pathLst>
          </a:custGeom>
          <a:noFill/>
          <a:ln w="57150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8259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AA6AA3-B880-C559-43D6-8DFB7630DD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침투 이론이란</a:t>
            </a:r>
            <a:r>
              <a:rPr lang="en-US" altLang="ko-KR"/>
              <a:t>?</a:t>
            </a:r>
            <a:endParaRPr lang="ko-KR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E8A68DF-0A75-45F5-7919-ECF0FC0B13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ko-KR" altLang="en-US"/>
                  <a:t>무한한 </a:t>
                </a:r>
                <a:r>
                  <a:rPr lang="en-US" altLang="ko-KR"/>
                  <a:t>2</a:t>
                </a:r>
                <a:r>
                  <a:rPr lang="ko-KR" altLang="en-US"/>
                  <a:t>차원 격자 그래프의 각 간선을 확률 </a:t>
                </a:r>
                <a14:m>
                  <m:oMath xmlns:m="http://schemas.openxmlformats.org/officeDocument/2006/math">
                    <m:r>
                      <a:rPr lang="ko-KR" altLang="en-US" i="1"/>
                      <m:t>𝑝</m:t>
                    </m:r>
                  </m:oMath>
                </a14:m>
                <a:r>
                  <a:rPr lang="ko-KR" altLang="en-US"/>
                  <a:t>로 남기고 </a:t>
                </a:r>
                <a14:m>
                  <m:oMath xmlns:m="http://schemas.openxmlformats.org/officeDocument/2006/math">
                    <m:r>
                      <a:rPr lang="en-US" altLang="ko-KR"/>
                      <m:t>1</m:t>
                    </m:r>
                    <m:r>
                      <a:rPr lang="ko-KR" altLang="en-US"/>
                      <m:t>−</m:t>
                    </m:r>
                    <m:r>
                      <a:rPr lang="ko-KR" altLang="en-US" i="1"/>
                      <m:t>𝑝</m:t>
                    </m:r>
                  </m:oMath>
                </a14:m>
                <a:r>
                  <a:rPr lang="ko-KR" altLang="en-US"/>
                  <a:t>로 제거해</a:t>
                </a:r>
                <a:r>
                  <a:rPr lang="en-US" altLang="ko-KR"/>
                  <a:t>, </a:t>
                </a:r>
                <a:r>
                  <a:rPr lang="ko-KR" altLang="en-US"/>
                  <a:t>그 결과 얻어지는 그래프를 생각해 보자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E8A68DF-0A75-45F5-7919-ECF0FC0B13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그림 6">
            <a:extLst>
              <a:ext uri="{FF2B5EF4-FFF2-40B4-BE49-F238E27FC236}">
                <a16:creationId xmlns:a16="http://schemas.microsoft.com/office/drawing/2014/main" id="{43EFFBB9-98E3-EB78-3FEF-F5BA88A79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4468" y="3083570"/>
            <a:ext cx="2939743" cy="301335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55A2945-39E5-4B22-D732-E12B253347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089" y="3029556"/>
            <a:ext cx="2971563" cy="301335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84F9485-9924-2DAC-10DC-619D060111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013" y="3106760"/>
            <a:ext cx="2971563" cy="296697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47D3F0-EEB2-F960-5638-2474B973047E}"/>
              </a:ext>
            </a:extLst>
          </p:cNvPr>
          <p:cNvSpPr txBox="1"/>
          <p:nvPr/>
        </p:nvSpPr>
        <p:spPr>
          <a:xfrm>
            <a:off x="9454551" y="62340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P=0</a:t>
            </a:r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11C3A0-CDAC-B790-AA9A-53CBD17BB626}"/>
              </a:ext>
            </a:extLst>
          </p:cNvPr>
          <p:cNvSpPr txBox="1"/>
          <p:nvPr/>
        </p:nvSpPr>
        <p:spPr>
          <a:xfrm>
            <a:off x="5687684" y="6234022"/>
            <a:ext cx="7537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P=0.5</a:t>
            </a:r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123620-E21C-A41F-1A3B-855924FEC54C}"/>
              </a:ext>
            </a:extLst>
          </p:cNvPr>
          <p:cNvSpPr txBox="1"/>
          <p:nvPr/>
        </p:nvSpPr>
        <p:spPr>
          <a:xfrm>
            <a:off x="2003586" y="6234022"/>
            <a:ext cx="564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P=1</a:t>
            </a:r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0A08B0-30F9-6560-4C14-DE64F5B720DF}"/>
              </a:ext>
            </a:extLst>
          </p:cNvPr>
          <p:cNvSpPr txBox="1"/>
          <p:nvPr/>
        </p:nvSpPr>
        <p:spPr>
          <a:xfrm>
            <a:off x="9650083" y="784270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코드 실행 </a:t>
            </a:r>
            <a:r>
              <a:rPr lang="en-US" altLang="ko-KR" b="1"/>
              <a:t>(1)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10610622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DE66DE-A2EE-9608-6972-A25F75A9A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침투 이론이란</a:t>
            </a:r>
            <a:r>
              <a:rPr lang="en-US" altLang="ko-KR"/>
              <a:t>?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9CE7D4-428D-3252-1BC7-84E89DD55F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p</a:t>
            </a:r>
            <a:r>
              <a:rPr lang="ko-KR" altLang="en-US"/>
              <a:t>에 따라서 그래프 내 클러스터가 보이는 양상에 관한 이론을 침투 이론이라고 한다</a:t>
            </a:r>
            <a:r>
              <a:rPr lang="en-US" altLang="ko-KR"/>
              <a:t>.</a:t>
            </a:r>
          </a:p>
          <a:p>
            <a:r>
              <a:rPr lang="en-US" altLang="ko-KR"/>
              <a:t>p</a:t>
            </a:r>
            <a:r>
              <a:rPr lang="ko-KR" altLang="en-US"/>
              <a:t>에 따른 클러스터 분포</a:t>
            </a:r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2B2FF6D-C6A5-9848-9257-931AAC64E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1475" y="3469419"/>
            <a:ext cx="4133100" cy="20948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6130D81-9B36-2A06-41FA-C5CD51D14455}"/>
              </a:ext>
            </a:extLst>
          </p:cNvPr>
          <p:cNvSpPr txBox="1"/>
          <p:nvPr/>
        </p:nvSpPr>
        <p:spPr>
          <a:xfrm>
            <a:off x="2952491" y="587746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p=0.3</a:t>
            </a:r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97B9A46-7E2A-05D2-364E-6523565CE4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3627" y="3469418"/>
            <a:ext cx="4152894" cy="20948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23ED358-0E12-46D4-AFC6-FD6A29198A32}"/>
              </a:ext>
            </a:extLst>
          </p:cNvPr>
          <p:cNvSpPr txBox="1"/>
          <p:nvPr/>
        </p:nvSpPr>
        <p:spPr>
          <a:xfrm>
            <a:off x="8144811" y="5877463"/>
            <a:ext cx="7505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p=0.7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43983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2BC3D3-7915-270E-C7D9-104B68138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침투 이론 모델링 </a:t>
            </a:r>
            <a:r>
              <a:rPr lang="en-US" altLang="ko-KR"/>
              <a:t>: </a:t>
            </a:r>
            <a:r>
              <a:rPr lang="ko-KR" altLang="en-US"/>
              <a:t>커플링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AD6867-D29D-071A-138F-F4AAD365E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ko-KR" altLang="en-US"/>
              <a:t>모든 간선의 존재 여부가 </a:t>
            </a:r>
            <a:r>
              <a:rPr lang="en-US" altLang="ko-KR"/>
              <a:t>p</a:t>
            </a:r>
            <a:r>
              <a:rPr lang="ko-KR" altLang="en-US"/>
              <a:t>로 결정된다는 것을 좀 더 스마트하게 구현하면 다음과 같다</a:t>
            </a:r>
            <a:r>
              <a:rPr lang="en-US" altLang="ko-KR"/>
              <a:t>.</a:t>
            </a:r>
          </a:p>
          <a:p>
            <a:pPr>
              <a:lnSpc>
                <a:spcPct val="100000"/>
              </a:lnSpc>
            </a:pPr>
            <a:r>
              <a:rPr lang="ko-KR" altLang="en-US"/>
              <a:t>각 간선에 </a:t>
            </a:r>
            <a:r>
              <a:rPr lang="en-US" altLang="ko-KR"/>
              <a:t>0~1 </a:t>
            </a:r>
            <a:r>
              <a:rPr lang="ko-KR" altLang="en-US"/>
              <a:t>사이의 가중치를 할당하고</a:t>
            </a:r>
            <a:r>
              <a:rPr lang="en-US" altLang="ko-KR"/>
              <a:t>, </a:t>
            </a:r>
            <a:r>
              <a:rPr lang="ko-KR" altLang="en-US"/>
              <a:t>가중치가 </a:t>
            </a:r>
            <a:r>
              <a:rPr lang="en-US" altLang="ko-KR"/>
              <a:t>p</a:t>
            </a:r>
            <a:r>
              <a:rPr lang="ko-KR" altLang="en-US"/>
              <a:t>보다 작으면 간선을 넣고</a:t>
            </a:r>
            <a:r>
              <a:rPr lang="en-US" altLang="ko-KR"/>
              <a:t>, p</a:t>
            </a:r>
            <a:r>
              <a:rPr lang="ko-KR" altLang="en-US"/>
              <a:t>보다 크면 넣지 않는다</a:t>
            </a:r>
            <a:r>
              <a:rPr lang="en-US" altLang="ko-KR"/>
              <a:t>. </a:t>
            </a:r>
            <a:r>
              <a:rPr lang="ko-KR" altLang="en-US"/>
              <a:t>이렇게 하면 각 간선이 존재할 확률은 </a:t>
            </a:r>
            <a:r>
              <a:rPr lang="en-US" altLang="ko-KR"/>
              <a:t>p</a:t>
            </a:r>
            <a:r>
              <a:rPr lang="ko-KR" altLang="en-US"/>
              <a:t>가 되므로</a:t>
            </a:r>
            <a:r>
              <a:rPr lang="en-US" altLang="ko-KR"/>
              <a:t> </a:t>
            </a:r>
            <a:r>
              <a:rPr lang="ko-KR" altLang="en-US"/>
              <a:t>올바르게 구현한 것이 된다</a:t>
            </a:r>
            <a:r>
              <a:rPr lang="en-US" altLang="ko-KR"/>
              <a:t>.</a:t>
            </a:r>
          </a:p>
          <a:p>
            <a:pPr>
              <a:lnSpc>
                <a:spcPct val="100000"/>
              </a:lnSpc>
            </a:pPr>
            <a:r>
              <a:rPr lang="en-US" altLang="ko-KR"/>
              <a:t>(</a:t>
            </a:r>
            <a:r>
              <a:rPr lang="ko-KR" altLang="en-US"/>
              <a:t>이러한 구현 방법을 </a:t>
            </a:r>
            <a:r>
              <a:rPr lang="en-US" altLang="ko-KR"/>
              <a:t>Coupling </a:t>
            </a:r>
            <a:r>
              <a:rPr lang="ko-KR" altLang="en-US"/>
              <a:t>이라고 한다</a:t>
            </a:r>
            <a:r>
              <a:rPr lang="en-US" altLang="ko-KR"/>
              <a:t>. </a:t>
            </a:r>
            <a:r>
              <a:rPr lang="ko-KR" altLang="en-US"/>
              <a:t>여러 개의 확률 변수를 하나의 확률 변수에 종속 시키는 방법</a:t>
            </a:r>
            <a:r>
              <a:rPr lang="en-US" altLang="ko-KR"/>
              <a:t>. </a:t>
            </a:r>
            <a:r>
              <a:rPr lang="ko-KR" altLang="en-US"/>
              <a:t>나중에 또 나온다</a:t>
            </a:r>
            <a:r>
              <a:rPr lang="en-US" altLang="ko-KR"/>
              <a:t>.)</a:t>
            </a:r>
          </a:p>
        </p:txBody>
      </p:sp>
    </p:spTree>
    <p:extLst>
      <p:ext uri="{BB962C8B-B14F-4D97-AF65-F5344CB8AC3E}">
        <p14:creationId xmlns:p14="http://schemas.microsoft.com/office/powerpoint/2010/main" val="2132629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847D324D-FA20-50BE-46D6-0657592B1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08" y="2437939"/>
            <a:ext cx="4419632" cy="33623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A923586-28A0-DB03-1E0F-E3BCC05395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9003" y="2311598"/>
            <a:ext cx="4619659" cy="34195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EB37DA-39C4-6F99-647C-4BAD2B2C6732}"/>
                  </a:ext>
                </a:extLst>
              </p:cNvPr>
              <p:cNvSpPr txBox="1"/>
              <p:nvPr/>
            </p:nvSpPr>
            <p:spPr>
              <a:xfrm>
                <a:off x="3242753" y="658312"/>
                <a:ext cx="5285421" cy="4685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ko-KR" altLang="en-US" sz="2400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sz="2400"/>
                  <a:t> 때 </a:t>
                </a:r>
                <a:r>
                  <a:rPr lang="en-US" altLang="ko-KR" sz="2400"/>
                  <a:t>→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&lt;0.5</m:t>
                    </m:r>
                  </m:oMath>
                </a14:m>
                <a:r>
                  <a:rPr lang="ko-KR" altLang="en-US" sz="2400"/>
                  <a:t>인 간선만 유지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DEB37DA-39C4-6F99-647C-4BAD2B2C67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2753" y="658312"/>
                <a:ext cx="5285421" cy="468590"/>
              </a:xfrm>
              <a:prstGeom prst="rect">
                <a:avLst/>
              </a:prstGeom>
              <a:blipFill>
                <a:blip r:embed="rId4"/>
                <a:stretch>
                  <a:fillRect l="-346" t="-11688" b="-29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790B67F-0FBD-FB9F-8D1C-BEC6C2F4B0CF}"/>
              </a:ext>
            </a:extLst>
          </p:cNvPr>
          <p:cNvCxnSpPr>
            <a:cxnSpLocks/>
          </p:cNvCxnSpPr>
          <p:nvPr/>
        </p:nvCxnSpPr>
        <p:spPr>
          <a:xfrm>
            <a:off x="5213645" y="4078857"/>
            <a:ext cx="1244253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0E2389-2F56-54FA-6750-2FCDA631358C}"/>
                  </a:ext>
                </a:extLst>
              </p:cNvPr>
              <p:cNvSpPr txBox="1"/>
              <p:nvPr/>
            </p:nvSpPr>
            <p:spPr>
              <a:xfrm>
                <a:off x="8609162" y="1656272"/>
                <a:ext cx="111351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(0.5)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60E2389-2F56-54FA-6750-2FCDA63135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09162" y="1656272"/>
                <a:ext cx="1113510" cy="461665"/>
              </a:xfrm>
              <a:prstGeom prst="rect">
                <a:avLst/>
              </a:prstGeom>
              <a:blipFill>
                <a:blip r:embed="rId5"/>
                <a:stretch>
                  <a:fillRect r="-2186" b="-17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64478-0674-F60F-B672-712CC342D6A3}"/>
                  </a:ext>
                </a:extLst>
              </p:cNvPr>
              <p:cNvSpPr txBox="1"/>
              <p:nvPr/>
            </p:nvSpPr>
            <p:spPr>
              <a:xfrm>
                <a:off x="2089417" y="1656271"/>
                <a:ext cx="149342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ko-KR" sz="2400"/>
                  <a:t>Original </a:t>
                </a:r>
                <a14:m>
                  <m:oMath xmlns:m="http://schemas.openxmlformats.org/officeDocument/2006/math"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4564478-0674-F60F-B672-712CC342D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417" y="1656271"/>
                <a:ext cx="1493422" cy="461665"/>
              </a:xfrm>
              <a:prstGeom prst="rect">
                <a:avLst/>
              </a:prstGeom>
              <a:blipFill>
                <a:blip r:embed="rId6"/>
                <a:stretch>
                  <a:fillRect l="-6531" t="-10667" b="-30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33273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700258-A081-8838-796B-8F31F2AD0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상전이 현상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F6D32E-A01C-0B15-5C10-BFE0DB7E1E3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ko-KR" altLang="en-US"/>
                  <a:t>이징 모델과 비슷하게 퍼콜레이션 모델에서도 </a:t>
                </a:r>
                <a:r>
                  <a:rPr lang="en-US" altLang="ko-KR"/>
                  <a:t>p</a:t>
                </a:r>
                <a:r>
                  <a:rPr lang="ko-KR" altLang="en-US"/>
                  <a:t>가 특정 값을 넘어가면 거대한 클러스터가 나오기 시작한다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이러한 상전이 현상은 다음과 같이 서술할 수 있다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  <a:p>
                <a:r>
                  <a:rPr lang="ko-KR" altLang="en-US" b="0">
                    <a:latin typeface="Cambria Math" panose="02040503050406030204" pitchFamily="18" charset="0"/>
                  </a:rPr>
                  <a:t>다음을 만족하는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b="0">
                    <a:latin typeface="Cambria Math" panose="02040503050406030204" pitchFamily="18" charset="0"/>
                  </a:rPr>
                  <a:t>가 존재한다</a:t>
                </a:r>
                <a:r>
                  <a:rPr lang="en-US" altLang="ko-KR" b="0">
                    <a:latin typeface="Cambria Math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 b="0">
                    <a:latin typeface="Cambria Math" panose="02040503050406030204" pitchFamily="18" charset="0"/>
                  </a:rPr>
                  <a:t>보다 작은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 b="0">
                    <a:latin typeface="Cambria Math" panose="02040503050406030204" pitchFamily="18" charset="0"/>
                  </a:rPr>
                  <a:t>에 대해서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b="0">
                    <a:latin typeface="Cambria Math" panose="02040503050406030204" pitchFamily="18" charset="0"/>
                  </a:rPr>
                  <a:t>에 무한히 큰 클러스터가 존재하지 않는다</a:t>
                </a:r>
                <a:r>
                  <a:rPr lang="en-US" altLang="ko-KR" b="0">
                    <a:latin typeface="Cambria Math" panose="02040503050406030204" pitchFamily="18" charset="0"/>
                  </a:rPr>
                  <a:t>.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>
                    <a:latin typeface="Cambria Math" panose="02040503050406030204" pitchFamily="18" charset="0"/>
                  </a:rPr>
                  <a:t>보다 큰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>
                    <a:latin typeface="Cambria Math" panose="02040503050406030204" pitchFamily="18" charset="0"/>
                  </a:rPr>
                  <a:t>에 대해서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>
                    <a:latin typeface="Cambria Math" panose="02040503050406030204" pitchFamily="18" charset="0"/>
                  </a:rPr>
                  <a:t>에 무한히 큰 클러스터가 존재한다</a:t>
                </a:r>
                <a:r>
                  <a:rPr lang="en-US" altLang="ko-KR">
                    <a:latin typeface="Cambria Math" panose="02040503050406030204" pitchFamily="18" charset="0"/>
                  </a:rPr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  <a:p>
                <a:endParaRPr lang="en-US" altLang="ko-KR"/>
              </a:p>
              <a:p>
                <a:endParaRPr lang="en-US" altLang="ko-KR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AF6D32E-A01C-0B15-5C10-BFE0DB7E1E3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341C33A2-75D3-5987-232E-A179871DCB2E}"/>
              </a:ext>
            </a:extLst>
          </p:cNvPr>
          <p:cNvSpPr txBox="1"/>
          <p:nvPr/>
        </p:nvSpPr>
        <p:spPr>
          <a:xfrm>
            <a:off x="8424533" y="2244770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코드 실행 </a:t>
            </a:r>
            <a:r>
              <a:rPr lang="en-US" altLang="ko-KR" b="1"/>
              <a:t>(2)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286185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C5F22-7DF4-2A49-E158-3A176E89B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5FB6D1-89FF-531B-11DB-966DB06DC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상전이 현상 </a:t>
            </a:r>
            <a:r>
              <a:rPr lang="en-US" altLang="ko-KR"/>
              <a:t>: </a:t>
            </a:r>
            <a:r>
              <a:rPr lang="ko-KR" altLang="en-US"/>
              <a:t>증명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A852A6-B040-2325-27A1-D371BAD16C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Kolmogorov's zero–one law  : </a:t>
            </a:r>
            <a:r>
              <a:rPr lang="ko-KR" altLang="en-US"/>
              <a:t>무한한 독립 과정에서 장기적 특성이 나타날 확률은 </a:t>
            </a:r>
            <a:r>
              <a:rPr lang="en-US" altLang="ko-KR"/>
              <a:t>0</a:t>
            </a:r>
            <a:r>
              <a:rPr lang="ko-KR" altLang="en-US"/>
              <a:t>또는 </a:t>
            </a:r>
            <a:r>
              <a:rPr lang="en-US" altLang="ko-KR"/>
              <a:t>1</a:t>
            </a:r>
            <a:r>
              <a:rPr lang="ko-KR" altLang="en-US"/>
              <a:t>이다</a:t>
            </a:r>
            <a:r>
              <a:rPr lang="en-US" altLang="ko-KR"/>
              <a:t>.</a:t>
            </a:r>
          </a:p>
          <a:p>
            <a:r>
              <a:rPr lang="ko-KR" altLang="en-US"/>
              <a:t>따라서 </a:t>
            </a:r>
            <a:r>
              <a:rPr lang="en-US" altLang="ko-KR"/>
              <a:t>“</a:t>
            </a:r>
            <a:r>
              <a:rPr lang="ko-KR" altLang="en-US"/>
              <a:t>무한한 클러스터가 존재하는</a:t>
            </a:r>
            <a:r>
              <a:rPr lang="en-US" altLang="ko-KR"/>
              <a:t> </a:t>
            </a:r>
            <a:r>
              <a:rPr lang="ko-KR" altLang="en-US"/>
              <a:t>사건</a:t>
            </a:r>
            <a:r>
              <a:rPr lang="en-US" altLang="ko-KR"/>
              <a:t>”</a:t>
            </a:r>
            <a:r>
              <a:rPr lang="ko-KR" altLang="en-US"/>
              <a:t>이 발생할 확률은 </a:t>
            </a:r>
            <a:r>
              <a:rPr lang="en-US" altLang="ko-KR"/>
              <a:t>0 </a:t>
            </a:r>
            <a:r>
              <a:rPr lang="ko-KR" altLang="en-US"/>
              <a:t>또는 </a:t>
            </a:r>
            <a:r>
              <a:rPr lang="en-US" altLang="ko-KR"/>
              <a:t>1</a:t>
            </a:r>
            <a:r>
              <a:rPr lang="ko-KR" altLang="en-US"/>
              <a:t>이다</a:t>
            </a:r>
            <a:r>
              <a:rPr lang="en-US" altLang="ko-KR"/>
              <a:t>. </a:t>
            </a:r>
          </a:p>
          <a:p>
            <a:r>
              <a:rPr lang="ko-KR" altLang="en-US"/>
              <a:t>따라서</a:t>
            </a:r>
            <a:r>
              <a:rPr lang="en-US" altLang="ko-KR"/>
              <a:t> </a:t>
            </a:r>
            <a:r>
              <a:rPr lang="ko-KR" altLang="en-US"/>
              <a:t>간선들의 가중치들에 상관없이</a:t>
            </a:r>
            <a:r>
              <a:rPr lang="en-US" altLang="ko-KR"/>
              <a:t>, “p = 0.9 </a:t>
            </a:r>
            <a:r>
              <a:rPr lang="ko-KR" altLang="en-US"/>
              <a:t>이면 무한클러스터가 반드시 존재한다</a:t>
            </a:r>
            <a:r>
              <a:rPr lang="en-US" altLang="ko-KR"/>
              <a:t>(or </a:t>
            </a:r>
            <a:r>
              <a:rPr lang="ko-KR" altLang="en-US"/>
              <a:t>존재하지 않는다</a:t>
            </a:r>
            <a:r>
              <a:rPr lang="en-US" altLang="ko-KR"/>
              <a:t>).”</a:t>
            </a:r>
            <a:r>
              <a:rPr lang="ko-KR" altLang="en-US"/>
              <a:t>와 같이 단정적으로 말할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262323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F07F89-B45A-DE24-F54C-3DB294E61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상전이 현상 </a:t>
            </a:r>
            <a:r>
              <a:rPr lang="en-US" altLang="ko-KR"/>
              <a:t>: </a:t>
            </a:r>
            <a:r>
              <a:rPr lang="ko-KR" altLang="en-US"/>
              <a:t>증명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AE7480B-9CDC-553B-8F34-0F6E92A7E7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만약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ko-KR" altLang="en-US"/>
                  <a:t>이라면</a:t>
                </a:r>
                <a:r>
                  <a:rPr lang="en-US" altLang="ko-KR"/>
                  <a:t>, </a:t>
                </a:r>
                <a:r>
                  <a:rPr lang="ko-KR" altLang="en-US"/>
                  <a:t>그래프 내의 모든 간선이 존재하므로 그래프 자체가 하나의 무한 클러스터가 된다</a:t>
                </a:r>
                <a:r>
                  <a:rPr lang="en-US" altLang="ko-KR"/>
                  <a:t>.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ko-KR" altLang="en-US"/>
                  <a:t>이면 각 점들이 독립적으로 클러스터가 되므로 무한 클러스터는 존재하지 않는다</a:t>
                </a:r>
                <a:r>
                  <a:rPr lang="en-US" altLang="ko-KR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/>
                  <a:t>에 대해서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의 부분 그래프이므로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/>
                  <a:t>일 때 무한 클러스터가 존재하면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/>
                  <a:t>일 때도 존재한다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따라서 중간에 무한클러스터의 존재여부가 바뀌는 지점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/>
                  <a:t>가 반드시 존재한다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AE7480B-9CDC-553B-8F34-0F6E92A7E7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 r="-11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C213882-96A3-5320-F309-E42B3A16D49A}"/>
              </a:ext>
            </a:extLst>
          </p:cNvPr>
          <p:cNvCxnSpPr>
            <a:cxnSpLocks/>
          </p:cNvCxnSpPr>
          <p:nvPr/>
        </p:nvCxnSpPr>
        <p:spPr>
          <a:xfrm>
            <a:off x="3324045" y="5543909"/>
            <a:ext cx="2937024" cy="0"/>
          </a:xfrm>
          <a:prstGeom prst="line">
            <a:avLst/>
          </a:prstGeom>
          <a:ln w="57150">
            <a:solidFill>
              <a:srgbClr val="FF0000"/>
            </a:solidFill>
            <a:headEnd type="oval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36C083-D83B-0CA5-A50D-1F4728B94727}"/>
                  </a:ext>
                </a:extLst>
              </p:cNvPr>
              <p:cNvSpPr txBox="1"/>
              <p:nvPr/>
            </p:nvSpPr>
            <p:spPr>
              <a:xfrm>
                <a:off x="2827755" y="5800992"/>
                <a:ext cx="9925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D36C083-D83B-0CA5-A50D-1F4728B947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7755" y="5800992"/>
                <a:ext cx="992579" cy="461665"/>
              </a:xfrm>
              <a:prstGeom prst="rect">
                <a:avLst/>
              </a:prstGeom>
              <a:blipFill>
                <a:blip r:embed="rId3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D145FD-2BDC-8F0B-983D-73ED68DA8D64}"/>
                  </a:ext>
                </a:extLst>
              </p:cNvPr>
              <p:cNvSpPr txBox="1"/>
              <p:nvPr/>
            </p:nvSpPr>
            <p:spPr>
              <a:xfrm>
                <a:off x="8388918" y="5800992"/>
                <a:ext cx="9925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D145FD-2BDC-8F0B-983D-73ED68DA8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8918" y="5800992"/>
                <a:ext cx="992579" cy="461665"/>
              </a:xfrm>
              <a:prstGeom prst="rect">
                <a:avLst/>
              </a:prstGeom>
              <a:blipFill>
                <a:blip r:embed="rId4"/>
                <a:stretch>
                  <a:fillRect b="-9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직선 연결선 10">
            <a:extLst>
              <a:ext uri="{FF2B5EF4-FFF2-40B4-BE49-F238E27FC236}">
                <a16:creationId xmlns:a16="http://schemas.microsoft.com/office/drawing/2014/main" id="{AF80973B-7B54-29A6-DA1A-73C0086CBF77}"/>
              </a:ext>
            </a:extLst>
          </p:cNvPr>
          <p:cNvCxnSpPr>
            <a:cxnSpLocks/>
          </p:cNvCxnSpPr>
          <p:nvPr/>
        </p:nvCxnSpPr>
        <p:spPr>
          <a:xfrm>
            <a:off x="6261069" y="5543909"/>
            <a:ext cx="2536166" cy="0"/>
          </a:xfrm>
          <a:prstGeom prst="line">
            <a:avLst/>
          </a:prstGeom>
          <a:ln w="57150">
            <a:solidFill>
              <a:srgbClr val="0070C0"/>
            </a:solidFill>
            <a:headEnd type="none" w="lg" len="lg"/>
            <a:tailEnd type="oval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56B8CED6-BDA6-EEA4-63F6-31FD3ACF2FF7}"/>
              </a:ext>
            </a:extLst>
          </p:cNvPr>
          <p:cNvCxnSpPr>
            <a:cxnSpLocks/>
          </p:cNvCxnSpPr>
          <p:nvPr/>
        </p:nvCxnSpPr>
        <p:spPr>
          <a:xfrm>
            <a:off x="6261069" y="4856446"/>
            <a:ext cx="0" cy="13749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70B8268B-81B7-BA28-BB9E-D7B62FE66C41}"/>
              </a:ext>
            </a:extLst>
          </p:cNvPr>
          <p:cNvSpPr txBox="1"/>
          <p:nvPr/>
        </p:nvSpPr>
        <p:spPr>
          <a:xfrm>
            <a:off x="4026267" y="5692863"/>
            <a:ext cx="21242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무한 클러스터 존재</a:t>
            </a:r>
            <a:endParaRPr lang="en-US" altLang="ko-KR"/>
          </a:p>
          <a:p>
            <a:r>
              <a:rPr lang="ko-KR" altLang="en-US"/>
              <a:t>안 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946729-DE40-4DED-CD63-EE2BB217C6AB}"/>
              </a:ext>
            </a:extLst>
          </p:cNvPr>
          <p:cNvSpPr txBox="1"/>
          <p:nvPr/>
        </p:nvSpPr>
        <p:spPr>
          <a:xfrm>
            <a:off x="6356499" y="5692863"/>
            <a:ext cx="2355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/>
              <a:t>무한 클러스터 존재함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B4AFA9-0C39-62B0-FFD3-63C9EDD8D59F}"/>
                  </a:ext>
                </a:extLst>
              </p:cNvPr>
              <p:cNvSpPr txBox="1"/>
              <p:nvPr/>
            </p:nvSpPr>
            <p:spPr>
              <a:xfrm>
                <a:off x="6096000" y="6325916"/>
                <a:ext cx="450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ko-KR" altLang="en-US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0B4AFA9-0C39-62B0-FFD3-63C9EDD8D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6325916"/>
                <a:ext cx="45018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1899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7B7B829-9A14-14C5-6B1D-6D8B128B6164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증</m:t>
                    </m:r>
                  </m:oMath>
                </a14:m>
                <a:r>
                  <a:rPr lang="ko-KR" altLang="en-US"/>
                  <a:t>명</a:t>
                </a:r>
                <a:r>
                  <a:rPr lang="en-US" altLang="ko-KR"/>
                  <a:t> – </a:t>
                </a:r>
                <a:r>
                  <a:rPr lang="ko-KR" altLang="en-US"/>
                  <a:t>듀얼 그래프 정의</a:t>
                </a:r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07B7B829-9A14-14C5-6B1D-6D8B128B61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D8E0D52-218C-31D2-7DCD-2F6707F242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2974975"/>
          </a:xfrm>
        </p:spPr>
        <p:txBody>
          <a:bodyPr>
            <a:normAutofit/>
          </a:bodyPr>
          <a:lstStyle/>
          <a:p>
            <a:r>
              <a:rPr lang="ko-KR" altLang="en-US"/>
              <a:t>상전이가 발생하는 임계값이 </a:t>
            </a:r>
            <a:r>
              <a:rPr lang="en-US" altLang="ko-KR"/>
              <a:t>0.5</a:t>
            </a:r>
            <a:r>
              <a:rPr lang="ko-KR" altLang="en-US"/>
              <a:t>임을 증명하기 위해 </a:t>
            </a:r>
            <a:r>
              <a:rPr lang="en-US" altLang="ko-KR"/>
              <a:t>“</a:t>
            </a:r>
            <a:r>
              <a:rPr lang="ko-KR" altLang="en-US"/>
              <a:t>듀얼 그래프</a:t>
            </a:r>
            <a:r>
              <a:rPr lang="en-US" altLang="ko-KR"/>
              <a:t>”</a:t>
            </a:r>
            <a:r>
              <a:rPr lang="ko-KR" altLang="en-US"/>
              <a:t>를 정의한다</a:t>
            </a:r>
            <a:r>
              <a:rPr lang="en-US" altLang="ko-KR"/>
              <a:t>.</a:t>
            </a:r>
          </a:p>
          <a:p>
            <a:r>
              <a:rPr lang="ko-KR" altLang="en-US"/>
              <a:t>듀얼 그래프 </a:t>
            </a:r>
            <a:r>
              <a:rPr lang="en-US" altLang="ko-KR"/>
              <a:t>: </a:t>
            </a:r>
            <a:r>
              <a:rPr lang="ko-KR" altLang="en-US"/>
              <a:t>기존 그래프 </a:t>
            </a:r>
            <a:r>
              <a:rPr lang="en-US" altLang="ko-KR"/>
              <a:t>G</a:t>
            </a:r>
            <a:r>
              <a:rPr lang="ko-KR" altLang="en-US"/>
              <a:t>에 대해 정점과 간선을 다음과 같이 정의한 그래프</a:t>
            </a:r>
            <a:endParaRPr lang="en-US" altLang="ko-KR"/>
          </a:p>
          <a:p>
            <a:pPr lvl="1"/>
            <a:r>
              <a:rPr lang="en-US" altLang="ko-KR"/>
              <a:t>G*</a:t>
            </a:r>
            <a:r>
              <a:rPr lang="ko-KR" altLang="en-US"/>
              <a:t>의 정점 </a:t>
            </a:r>
            <a:r>
              <a:rPr lang="en-US" altLang="ko-KR">
                <a:sym typeface="Wingdings" panose="05000000000000000000" pitchFamily="2" charset="2"/>
              </a:rPr>
              <a:t> </a:t>
            </a:r>
            <a:r>
              <a:rPr lang="en-US" altLang="ko-KR"/>
              <a:t>G</a:t>
            </a:r>
            <a:r>
              <a:rPr lang="ko-KR" altLang="en-US"/>
              <a:t>의 </a:t>
            </a:r>
            <a:r>
              <a:rPr lang="en-US" altLang="ko-KR"/>
              <a:t>1*1 </a:t>
            </a:r>
            <a:r>
              <a:rPr lang="ko-KR" altLang="en-US"/>
              <a:t>격자면</a:t>
            </a:r>
            <a:endParaRPr lang="en-US" altLang="ko-KR"/>
          </a:p>
          <a:p>
            <a:pPr lvl="1"/>
            <a:r>
              <a:rPr lang="en-US" altLang="ko-KR"/>
              <a:t>G*</a:t>
            </a:r>
            <a:r>
              <a:rPr lang="ko-KR" altLang="en-US"/>
              <a:t>의 간선 </a:t>
            </a:r>
            <a:r>
              <a:rPr lang="en-US" altLang="ko-KR">
                <a:sym typeface="Wingdings" panose="05000000000000000000" pitchFamily="2" charset="2"/>
              </a:rPr>
              <a:t> G</a:t>
            </a:r>
            <a:r>
              <a:rPr lang="ko-KR" altLang="en-US">
                <a:sym typeface="Wingdings" panose="05000000000000000000" pitchFamily="2" charset="2"/>
              </a:rPr>
              <a:t>에서 인접한 면 사이에 간선이 없을 때 </a:t>
            </a:r>
            <a:r>
              <a:rPr lang="en-US" altLang="ko-KR">
                <a:sym typeface="Wingdings" panose="05000000000000000000" pitchFamily="2" charset="2"/>
              </a:rPr>
              <a:t>G*</a:t>
            </a:r>
            <a:r>
              <a:rPr lang="ko-KR" altLang="en-US">
                <a:sym typeface="Wingdings" panose="05000000000000000000" pitchFamily="2" charset="2"/>
              </a:rPr>
              <a:t>에 간선 존재</a:t>
            </a:r>
            <a:endParaRPr lang="en-US" altLang="ko-KR">
              <a:sym typeface="Wingdings" panose="05000000000000000000" pitchFamily="2" charset="2"/>
            </a:endParaRPr>
          </a:p>
          <a:p>
            <a:pPr lvl="1"/>
            <a:r>
              <a:rPr lang="ko-KR" altLang="en-US">
                <a:sym typeface="Wingdings" panose="05000000000000000000" pitchFamily="2" charset="2"/>
              </a:rPr>
              <a:t>간선 </a:t>
            </a:r>
            <a:r>
              <a:rPr lang="en-US" altLang="ko-KR">
                <a:sym typeface="Wingdings" panose="05000000000000000000" pitchFamily="2" charset="2"/>
              </a:rPr>
              <a:t>e* </a:t>
            </a:r>
            <a:r>
              <a:rPr lang="ko-KR" altLang="en-US">
                <a:sym typeface="Wingdings" panose="05000000000000000000" pitchFamily="2" charset="2"/>
              </a:rPr>
              <a:t>의 가중치 </a:t>
            </a:r>
            <a:r>
              <a:rPr lang="en-US" altLang="ko-KR">
                <a:sym typeface="Wingdings" panose="05000000000000000000" pitchFamily="2" charset="2"/>
              </a:rPr>
              <a:t>= 1 – (e</a:t>
            </a:r>
            <a:r>
              <a:rPr lang="ko-KR" altLang="en-US">
                <a:sym typeface="Wingdings" panose="05000000000000000000" pitchFamily="2" charset="2"/>
              </a:rPr>
              <a:t>의 가중치</a:t>
            </a:r>
            <a:r>
              <a:rPr lang="en-US" altLang="ko-KR">
                <a:sym typeface="Wingdings" panose="05000000000000000000" pitchFamily="2" charset="2"/>
              </a:rPr>
              <a:t>)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464902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그룹 58">
            <a:extLst>
              <a:ext uri="{FF2B5EF4-FFF2-40B4-BE49-F238E27FC236}">
                <a16:creationId xmlns:a16="http://schemas.microsoft.com/office/drawing/2014/main" id="{EEA1043D-6A27-D891-D7E6-99D7C2FACE6A}"/>
              </a:ext>
            </a:extLst>
          </p:cNvPr>
          <p:cNvGrpSpPr/>
          <p:nvPr/>
        </p:nvGrpSpPr>
        <p:grpSpPr>
          <a:xfrm>
            <a:off x="1466546" y="1940445"/>
            <a:ext cx="3404105" cy="3417350"/>
            <a:chOff x="1548384" y="2894550"/>
            <a:chExt cx="3404105" cy="3417350"/>
          </a:xfrm>
        </p:grpSpPr>
        <p:sp>
          <p:nvSpPr>
            <p:cNvPr id="60" name="직사각형 59">
              <a:extLst>
                <a:ext uri="{FF2B5EF4-FFF2-40B4-BE49-F238E27FC236}">
                  <a16:creationId xmlns:a16="http://schemas.microsoft.com/office/drawing/2014/main" id="{914B2721-9683-C98A-E862-EF78C588A561}"/>
                </a:ext>
              </a:extLst>
            </p:cNvPr>
            <p:cNvSpPr/>
            <p:nvPr/>
          </p:nvSpPr>
          <p:spPr>
            <a:xfrm>
              <a:off x="2160270" y="3394710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직사각형 60">
              <a:extLst>
                <a:ext uri="{FF2B5EF4-FFF2-40B4-BE49-F238E27FC236}">
                  <a16:creationId xmlns:a16="http://schemas.microsoft.com/office/drawing/2014/main" id="{2BA798F3-C21B-5E51-DA20-829550C7B877}"/>
                </a:ext>
              </a:extLst>
            </p:cNvPr>
            <p:cNvSpPr/>
            <p:nvPr/>
          </p:nvSpPr>
          <p:spPr>
            <a:xfrm>
              <a:off x="2160270" y="4735830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231653BF-9381-24D9-F65B-3483271EAA6F}"/>
                </a:ext>
              </a:extLst>
            </p:cNvPr>
            <p:cNvSpPr/>
            <p:nvPr/>
          </p:nvSpPr>
          <p:spPr>
            <a:xfrm>
              <a:off x="2160270" y="4065270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08E422BA-5214-F64A-F7F1-F248A0D92989}"/>
                </a:ext>
              </a:extLst>
            </p:cNvPr>
            <p:cNvSpPr/>
            <p:nvPr/>
          </p:nvSpPr>
          <p:spPr>
            <a:xfrm rot="16200000">
              <a:off x="2533835" y="3774599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7B6638A7-4080-ADB2-C243-ED2BC127215E}"/>
                </a:ext>
              </a:extLst>
            </p:cNvPr>
            <p:cNvSpPr/>
            <p:nvPr/>
          </p:nvSpPr>
          <p:spPr>
            <a:xfrm rot="16200000">
              <a:off x="3177725" y="3774599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DD47C3EC-5752-B563-6F34-6C2BEFAE197C}"/>
                </a:ext>
              </a:extLst>
            </p:cNvPr>
            <p:cNvSpPr/>
            <p:nvPr/>
          </p:nvSpPr>
          <p:spPr>
            <a:xfrm rot="16200000">
              <a:off x="3974015" y="2992755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073FF8A5-DC29-92FC-3519-771BFA864306}"/>
                </a:ext>
              </a:extLst>
            </p:cNvPr>
            <p:cNvSpPr/>
            <p:nvPr/>
          </p:nvSpPr>
          <p:spPr>
            <a:xfrm>
              <a:off x="4300127" y="342757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7" name="직사각형 66">
              <a:extLst>
                <a:ext uri="{FF2B5EF4-FFF2-40B4-BE49-F238E27FC236}">
                  <a16:creationId xmlns:a16="http://schemas.microsoft.com/office/drawing/2014/main" id="{278BCCC5-3D6E-C7F9-5FAA-D86D357416C1}"/>
                </a:ext>
              </a:extLst>
            </p:cNvPr>
            <p:cNvSpPr/>
            <p:nvPr/>
          </p:nvSpPr>
          <p:spPr>
            <a:xfrm>
              <a:off x="4300127" y="414766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8" name="직사각형 67">
              <a:extLst>
                <a:ext uri="{FF2B5EF4-FFF2-40B4-BE49-F238E27FC236}">
                  <a16:creationId xmlns:a16="http://schemas.microsoft.com/office/drawing/2014/main" id="{D1F0C64B-305E-1481-E284-AE9F4D8F023C}"/>
                </a:ext>
              </a:extLst>
            </p:cNvPr>
            <p:cNvSpPr/>
            <p:nvPr/>
          </p:nvSpPr>
          <p:spPr>
            <a:xfrm>
              <a:off x="3579680" y="483346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9" name="직사각형 68">
              <a:extLst>
                <a:ext uri="{FF2B5EF4-FFF2-40B4-BE49-F238E27FC236}">
                  <a16:creationId xmlns:a16="http://schemas.microsoft.com/office/drawing/2014/main" id="{3C12B961-67C4-0C27-A9A7-40C5C57C783C}"/>
                </a:ext>
              </a:extLst>
            </p:cNvPr>
            <p:cNvSpPr/>
            <p:nvPr/>
          </p:nvSpPr>
          <p:spPr>
            <a:xfrm>
              <a:off x="2880717" y="483346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0" name="직사각형 69">
              <a:extLst>
                <a:ext uri="{FF2B5EF4-FFF2-40B4-BE49-F238E27FC236}">
                  <a16:creationId xmlns:a16="http://schemas.microsoft.com/office/drawing/2014/main" id="{44056C82-F45F-9300-3B2E-DC3081CE815C}"/>
                </a:ext>
              </a:extLst>
            </p:cNvPr>
            <p:cNvSpPr/>
            <p:nvPr/>
          </p:nvSpPr>
          <p:spPr>
            <a:xfrm rot="16200000">
              <a:off x="2484477" y="511761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1" name="직사각형 70">
              <a:extLst>
                <a:ext uri="{FF2B5EF4-FFF2-40B4-BE49-F238E27FC236}">
                  <a16:creationId xmlns:a16="http://schemas.microsoft.com/office/drawing/2014/main" id="{426B0C6D-1F5B-1DE1-9A52-99AE40F38050}"/>
                </a:ext>
              </a:extLst>
            </p:cNvPr>
            <p:cNvSpPr/>
            <p:nvPr/>
          </p:nvSpPr>
          <p:spPr>
            <a:xfrm rot="16200000">
              <a:off x="3177725" y="5117611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464E18E9-5DD2-149B-9CE3-045FE8CB3F4E}"/>
                </a:ext>
              </a:extLst>
            </p:cNvPr>
            <p:cNvSpPr/>
            <p:nvPr/>
          </p:nvSpPr>
          <p:spPr>
            <a:xfrm rot="16200000">
              <a:off x="3177725" y="4399426"/>
              <a:ext cx="171450" cy="97536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2F7DC8BF-653E-CD3B-F924-EF2A83A1C806}"/>
                </a:ext>
              </a:extLst>
            </p:cNvPr>
            <p:cNvSpPr/>
            <p:nvPr/>
          </p:nvSpPr>
          <p:spPr>
            <a:xfrm rot="16200000">
              <a:off x="4230239" y="5504681"/>
              <a:ext cx="217170" cy="2872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45426CAA-7D7E-F277-D99F-EC1CF5F51B5F}"/>
                </a:ext>
              </a:extLst>
            </p:cNvPr>
            <p:cNvSpPr/>
            <p:nvPr/>
          </p:nvSpPr>
          <p:spPr>
            <a:xfrm rot="16200000">
              <a:off x="2799939" y="3336790"/>
              <a:ext cx="217170" cy="28728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75" name="그림 74">
              <a:extLst>
                <a:ext uri="{FF2B5EF4-FFF2-40B4-BE49-F238E27FC236}">
                  <a16:creationId xmlns:a16="http://schemas.microsoft.com/office/drawing/2014/main" id="{06465076-5661-F4E4-5868-6B358C593F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48384" y="2894550"/>
              <a:ext cx="3404105" cy="3417350"/>
            </a:xfrm>
            <a:prstGeom prst="rect">
              <a:avLst/>
            </a:prstGeom>
          </p:spPr>
        </p:pic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39DD1FDB-22D2-A1C1-DEA9-9B2A48D86CA3}"/>
                </a:ext>
              </a:extLst>
            </p:cNvPr>
            <p:cNvSpPr/>
            <p:nvPr/>
          </p:nvSpPr>
          <p:spPr>
            <a:xfrm>
              <a:off x="2082522" y="3427571"/>
              <a:ext cx="925221" cy="2695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7D2F1244-4B64-4CDA-3FCB-6601B3102ECD}"/>
                </a:ext>
              </a:extLst>
            </p:cNvPr>
            <p:cNvSpPr/>
            <p:nvPr/>
          </p:nvSpPr>
          <p:spPr>
            <a:xfrm>
              <a:off x="2082523" y="4119868"/>
              <a:ext cx="249198" cy="2695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3B949C99-4AA5-1E4E-68B8-C5EA5B162F7F}"/>
                </a:ext>
              </a:extLst>
            </p:cNvPr>
            <p:cNvSpPr/>
            <p:nvPr/>
          </p:nvSpPr>
          <p:spPr>
            <a:xfrm>
              <a:off x="2082523" y="4800362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2D92FAD8-329B-CEAF-58BD-F8CC48193F67}"/>
                </a:ext>
              </a:extLst>
            </p:cNvPr>
            <p:cNvSpPr/>
            <p:nvPr/>
          </p:nvSpPr>
          <p:spPr>
            <a:xfrm>
              <a:off x="2792706" y="4800362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A2721F2A-1F11-09B1-7973-DD84B758756A}"/>
                </a:ext>
              </a:extLst>
            </p:cNvPr>
            <p:cNvSpPr/>
            <p:nvPr/>
          </p:nvSpPr>
          <p:spPr>
            <a:xfrm>
              <a:off x="2823334" y="4124951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29C3EB5F-52B7-A6A6-3CD0-3954ED82D63D}"/>
                </a:ext>
              </a:extLst>
            </p:cNvPr>
            <p:cNvSpPr/>
            <p:nvPr/>
          </p:nvSpPr>
          <p:spPr>
            <a:xfrm>
              <a:off x="4079176" y="3480433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29383177-494B-C552-B5B7-3BCDF349A258}"/>
                </a:ext>
              </a:extLst>
            </p:cNvPr>
            <p:cNvSpPr/>
            <p:nvPr/>
          </p:nvSpPr>
          <p:spPr>
            <a:xfrm rot="16200000">
              <a:off x="2436196" y="5170050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097552C8-28B0-BC42-537B-C637545C72F6}"/>
                </a:ext>
              </a:extLst>
            </p:cNvPr>
            <p:cNvSpPr/>
            <p:nvPr/>
          </p:nvSpPr>
          <p:spPr>
            <a:xfrm rot="16200000">
              <a:off x="3208840" y="5170050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45DD0F9B-0238-5FD8-ED75-98838A26AE17}"/>
                </a:ext>
              </a:extLst>
            </p:cNvPr>
            <p:cNvSpPr/>
            <p:nvPr/>
          </p:nvSpPr>
          <p:spPr>
            <a:xfrm rot="16200000">
              <a:off x="3782509" y="5170050"/>
              <a:ext cx="249198" cy="95654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CF021F4F-9341-4380-69F4-A353B0FBF410}"/>
                </a:ext>
              </a:extLst>
            </p:cNvPr>
            <p:cNvSpPr/>
            <p:nvPr/>
          </p:nvSpPr>
          <p:spPr>
            <a:xfrm rot="16200000">
              <a:off x="3447518" y="3388472"/>
              <a:ext cx="249198" cy="310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9469CC8F-9C52-C9E1-36EC-ED523E815AFA}"/>
                </a:ext>
              </a:extLst>
            </p:cNvPr>
            <p:cNvSpPr/>
            <p:nvPr/>
          </p:nvSpPr>
          <p:spPr>
            <a:xfrm rot="16200000">
              <a:off x="3447518" y="4095495"/>
              <a:ext cx="249198" cy="310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E4A39D01-7D4D-89B0-D270-5AA7702A828C}"/>
                </a:ext>
              </a:extLst>
            </p:cNvPr>
            <p:cNvSpPr/>
            <p:nvPr/>
          </p:nvSpPr>
          <p:spPr>
            <a:xfrm rot="16200000">
              <a:off x="3447518" y="4813390"/>
              <a:ext cx="249198" cy="310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8" name="직사각형 87">
              <a:extLst>
                <a:ext uri="{FF2B5EF4-FFF2-40B4-BE49-F238E27FC236}">
                  <a16:creationId xmlns:a16="http://schemas.microsoft.com/office/drawing/2014/main" id="{D983462D-9983-3A70-A43C-7B79D4AA7FDD}"/>
                </a:ext>
              </a:extLst>
            </p:cNvPr>
            <p:cNvSpPr/>
            <p:nvPr/>
          </p:nvSpPr>
          <p:spPr>
            <a:xfrm rot="16200000">
              <a:off x="4175528" y="4813390"/>
              <a:ext cx="249198" cy="31066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80570624-D1D1-8670-071B-666E67FFE06A}"/>
              </a:ext>
            </a:extLst>
          </p:cNvPr>
          <p:cNvGrpSpPr/>
          <p:nvPr/>
        </p:nvGrpSpPr>
        <p:grpSpPr>
          <a:xfrm>
            <a:off x="1945344" y="2440014"/>
            <a:ext cx="2395726" cy="2361111"/>
            <a:chOff x="4993765" y="2317945"/>
            <a:chExt cx="2395726" cy="2361111"/>
          </a:xfrm>
        </p:grpSpPr>
        <p:sp>
          <p:nvSpPr>
            <p:cNvPr id="89" name="직사각형 88">
              <a:extLst>
                <a:ext uri="{FF2B5EF4-FFF2-40B4-BE49-F238E27FC236}">
                  <a16:creationId xmlns:a16="http://schemas.microsoft.com/office/drawing/2014/main" id="{F18A0AAA-EEDE-4001-AF50-65B51E10557C}"/>
                </a:ext>
              </a:extLst>
            </p:cNvPr>
            <p:cNvSpPr/>
            <p:nvPr/>
          </p:nvSpPr>
          <p:spPr>
            <a:xfrm>
              <a:off x="5014584" y="2317945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0" name="직사각형 89">
              <a:extLst>
                <a:ext uri="{FF2B5EF4-FFF2-40B4-BE49-F238E27FC236}">
                  <a16:creationId xmlns:a16="http://schemas.microsoft.com/office/drawing/2014/main" id="{CF5B67E3-25BB-3833-1C17-209A30A178FB}"/>
                </a:ext>
              </a:extLst>
            </p:cNvPr>
            <p:cNvSpPr/>
            <p:nvPr/>
          </p:nvSpPr>
          <p:spPr>
            <a:xfrm>
              <a:off x="5689188" y="2317945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1" name="직사각형 90">
              <a:extLst>
                <a:ext uri="{FF2B5EF4-FFF2-40B4-BE49-F238E27FC236}">
                  <a16:creationId xmlns:a16="http://schemas.microsoft.com/office/drawing/2014/main" id="{E2874460-E2A9-2AF3-7ABD-FF44ABD55040}"/>
                </a:ext>
              </a:extLst>
            </p:cNvPr>
            <p:cNvSpPr/>
            <p:nvPr/>
          </p:nvSpPr>
          <p:spPr>
            <a:xfrm>
              <a:off x="6395449" y="2317945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2" name="직사각형 91">
              <a:extLst>
                <a:ext uri="{FF2B5EF4-FFF2-40B4-BE49-F238E27FC236}">
                  <a16:creationId xmlns:a16="http://schemas.microsoft.com/office/drawing/2014/main" id="{D0DE734F-7399-2B79-FEEA-BDCFDEFC9A29}"/>
                </a:ext>
              </a:extLst>
            </p:cNvPr>
            <p:cNvSpPr/>
            <p:nvPr/>
          </p:nvSpPr>
          <p:spPr>
            <a:xfrm>
              <a:off x="7045759" y="2317945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3" name="직사각형 92">
              <a:extLst>
                <a:ext uri="{FF2B5EF4-FFF2-40B4-BE49-F238E27FC236}">
                  <a16:creationId xmlns:a16="http://schemas.microsoft.com/office/drawing/2014/main" id="{A016B778-DE4D-7BE0-1B7C-38444E8F3D2B}"/>
                </a:ext>
              </a:extLst>
            </p:cNvPr>
            <p:cNvSpPr/>
            <p:nvPr/>
          </p:nvSpPr>
          <p:spPr>
            <a:xfrm>
              <a:off x="7045759" y="3018007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4" name="직사각형 93">
              <a:extLst>
                <a:ext uri="{FF2B5EF4-FFF2-40B4-BE49-F238E27FC236}">
                  <a16:creationId xmlns:a16="http://schemas.microsoft.com/office/drawing/2014/main" id="{B618A817-46FF-E62A-BA07-3DDD4FAD6667}"/>
                </a:ext>
              </a:extLst>
            </p:cNvPr>
            <p:cNvSpPr/>
            <p:nvPr/>
          </p:nvSpPr>
          <p:spPr>
            <a:xfrm>
              <a:off x="7045759" y="3724188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5" name="직사각형 94">
              <a:extLst>
                <a:ext uri="{FF2B5EF4-FFF2-40B4-BE49-F238E27FC236}">
                  <a16:creationId xmlns:a16="http://schemas.microsoft.com/office/drawing/2014/main" id="{34D56871-0208-8D7A-64C3-F0E39FB20D40}"/>
                </a:ext>
              </a:extLst>
            </p:cNvPr>
            <p:cNvSpPr/>
            <p:nvPr/>
          </p:nvSpPr>
          <p:spPr>
            <a:xfrm>
              <a:off x="7045759" y="4372470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6" name="직사각형 95">
              <a:extLst>
                <a:ext uri="{FF2B5EF4-FFF2-40B4-BE49-F238E27FC236}">
                  <a16:creationId xmlns:a16="http://schemas.microsoft.com/office/drawing/2014/main" id="{61482ED7-F874-B30D-5969-A974CA6B66EB}"/>
                </a:ext>
              </a:extLst>
            </p:cNvPr>
            <p:cNvSpPr/>
            <p:nvPr/>
          </p:nvSpPr>
          <p:spPr>
            <a:xfrm>
              <a:off x="6407014" y="4372470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7" name="직사각형 96">
              <a:extLst>
                <a:ext uri="{FF2B5EF4-FFF2-40B4-BE49-F238E27FC236}">
                  <a16:creationId xmlns:a16="http://schemas.microsoft.com/office/drawing/2014/main" id="{84DDC45D-4CE7-2AF9-0C4F-6C9159C4160D}"/>
                </a:ext>
              </a:extLst>
            </p:cNvPr>
            <p:cNvSpPr/>
            <p:nvPr/>
          </p:nvSpPr>
          <p:spPr>
            <a:xfrm>
              <a:off x="5725776" y="4372470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8" name="직사각형 97">
              <a:extLst>
                <a:ext uri="{FF2B5EF4-FFF2-40B4-BE49-F238E27FC236}">
                  <a16:creationId xmlns:a16="http://schemas.microsoft.com/office/drawing/2014/main" id="{10892C6F-DE3B-D65F-76FB-1BDEE11B2725}"/>
                </a:ext>
              </a:extLst>
            </p:cNvPr>
            <p:cNvSpPr/>
            <p:nvPr/>
          </p:nvSpPr>
          <p:spPr>
            <a:xfrm>
              <a:off x="4993765" y="4372470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9" name="직사각형 98">
              <a:extLst>
                <a:ext uri="{FF2B5EF4-FFF2-40B4-BE49-F238E27FC236}">
                  <a16:creationId xmlns:a16="http://schemas.microsoft.com/office/drawing/2014/main" id="{3A73A2E1-75D1-B7A2-F210-2FA1DA30F3B5}"/>
                </a:ext>
              </a:extLst>
            </p:cNvPr>
            <p:cNvSpPr/>
            <p:nvPr/>
          </p:nvSpPr>
          <p:spPr>
            <a:xfrm>
              <a:off x="4993765" y="3732623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4AFD57D1-6915-B3C8-B3EA-9F8987B69E0A}"/>
                </a:ext>
              </a:extLst>
            </p:cNvPr>
            <p:cNvSpPr/>
            <p:nvPr/>
          </p:nvSpPr>
          <p:spPr>
            <a:xfrm>
              <a:off x="4993765" y="3034119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1" name="직사각형 100">
              <a:extLst>
                <a:ext uri="{FF2B5EF4-FFF2-40B4-BE49-F238E27FC236}">
                  <a16:creationId xmlns:a16="http://schemas.microsoft.com/office/drawing/2014/main" id="{F8345ECE-2054-A993-5B72-CC702D1A4D71}"/>
                </a:ext>
              </a:extLst>
            </p:cNvPr>
            <p:cNvSpPr/>
            <p:nvPr/>
          </p:nvSpPr>
          <p:spPr>
            <a:xfrm>
              <a:off x="5715353" y="3034119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2" name="직사각형 101">
              <a:extLst>
                <a:ext uri="{FF2B5EF4-FFF2-40B4-BE49-F238E27FC236}">
                  <a16:creationId xmlns:a16="http://schemas.microsoft.com/office/drawing/2014/main" id="{FA2DACC1-DB37-133D-B746-5B104154C6C8}"/>
                </a:ext>
              </a:extLst>
            </p:cNvPr>
            <p:cNvSpPr/>
            <p:nvPr/>
          </p:nvSpPr>
          <p:spPr>
            <a:xfrm>
              <a:off x="5715353" y="3758541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3" name="직사각형 102">
              <a:extLst>
                <a:ext uri="{FF2B5EF4-FFF2-40B4-BE49-F238E27FC236}">
                  <a16:creationId xmlns:a16="http://schemas.microsoft.com/office/drawing/2014/main" id="{E92E565B-E6F1-091F-FFCE-1A76166AE380}"/>
                </a:ext>
              </a:extLst>
            </p:cNvPr>
            <p:cNvSpPr/>
            <p:nvPr/>
          </p:nvSpPr>
          <p:spPr>
            <a:xfrm>
              <a:off x="6414435" y="3758541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4" name="직사각형 103">
              <a:extLst>
                <a:ext uri="{FF2B5EF4-FFF2-40B4-BE49-F238E27FC236}">
                  <a16:creationId xmlns:a16="http://schemas.microsoft.com/office/drawing/2014/main" id="{2995F018-A102-DC8B-F1DE-37388EAD9260}"/>
                </a:ext>
              </a:extLst>
            </p:cNvPr>
            <p:cNvSpPr/>
            <p:nvPr/>
          </p:nvSpPr>
          <p:spPr>
            <a:xfrm>
              <a:off x="6414435" y="3061664"/>
              <a:ext cx="343732" cy="306586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132" name="그룹 131">
            <a:extLst>
              <a:ext uri="{FF2B5EF4-FFF2-40B4-BE49-F238E27FC236}">
                <a16:creationId xmlns:a16="http://schemas.microsoft.com/office/drawing/2014/main" id="{FF26F5ED-B279-AD4E-D84D-5FAD059591E0}"/>
              </a:ext>
            </a:extLst>
          </p:cNvPr>
          <p:cNvGrpSpPr/>
          <p:nvPr/>
        </p:nvGrpSpPr>
        <p:grpSpPr>
          <a:xfrm>
            <a:off x="2117210" y="2593307"/>
            <a:ext cx="2051994" cy="2054525"/>
            <a:chOff x="2117210" y="2593307"/>
            <a:chExt cx="2051994" cy="2054525"/>
          </a:xfrm>
        </p:grpSpPr>
        <p:cxnSp>
          <p:nvCxnSpPr>
            <p:cNvPr id="112" name="직선 연결선 111">
              <a:extLst>
                <a:ext uri="{FF2B5EF4-FFF2-40B4-BE49-F238E27FC236}">
                  <a16:creationId xmlns:a16="http://schemas.microsoft.com/office/drawing/2014/main" id="{541DB300-9E5E-CD1A-A995-ED8152EA9599}"/>
                </a:ext>
              </a:extLst>
            </p:cNvPr>
            <p:cNvCxnSpPr>
              <a:cxnSpLocks/>
              <a:stCxn id="89" idx="3"/>
              <a:endCxn id="90" idx="1"/>
            </p:cNvCxnSpPr>
            <p:nvPr/>
          </p:nvCxnSpPr>
          <p:spPr>
            <a:xfrm>
              <a:off x="2309895" y="2593307"/>
              <a:ext cx="330872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 117">
              <a:extLst>
                <a:ext uri="{FF2B5EF4-FFF2-40B4-BE49-F238E27FC236}">
                  <a16:creationId xmlns:a16="http://schemas.microsoft.com/office/drawing/2014/main" id="{45DE5C15-5F96-109A-894A-08A9DF3EA3D5}"/>
                </a:ext>
              </a:extLst>
            </p:cNvPr>
            <p:cNvCxnSpPr>
              <a:stCxn id="101" idx="2"/>
              <a:endCxn id="102" idx="0"/>
            </p:cNvCxnSpPr>
            <p:nvPr/>
          </p:nvCxnSpPr>
          <p:spPr>
            <a:xfrm>
              <a:off x="2838798" y="3462774"/>
              <a:ext cx="0" cy="417836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직선 연결선 119">
              <a:extLst>
                <a:ext uri="{FF2B5EF4-FFF2-40B4-BE49-F238E27FC236}">
                  <a16:creationId xmlns:a16="http://schemas.microsoft.com/office/drawing/2014/main" id="{D7F9043F-4D9B-9B24-8BEF-527F44004FFC}"/>
                </a:ext>
              </a:extLst>
            </p:cNvPr>
            <p:cNvCxnSpPr>
              <a:stCxn id="99" idx="2"/>
              <a:endCxn id="98" idx="0"/>
            </p:cNvCxnSpPr>
            <p:nvPr/>
          </p:nvCxnSpPr>
          <p:spPr>
            <a:xfrm>
              <a:off x="2117210" y="4161278"/>
              <a:ext cx="0" cy="333261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직선 연결선 121">
              <a:extLst>
                <a:ext uri="{FF2B5EF4-FFF2-40B4-BE49-F238E27FC236}">
                  <a16:creationId xmlns:a16="http://schemas.microsoft.com/office/drawing/2014/main" id="{2544114C-7231-4B87-5E93-3AC14FD191A4}"/>
                </a:ext>
              </a:extLst>
            </p:cNvPr>
            <p:cNvCxnSpPr>
              <a:stCxn id="98" idx="3"/>
              <a:endCxn id="97" idx="1"/>
            </p:cNvCxnSpPr>
            <p:nvPr/>
          </p:nvCxnSpPr>
          <p:spPr>
            <a:xfrm>
              <a:off x="2289076" y="4647832"/>
              <a:ext cx="388279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직선 연결선 123">
              <a:extLst>
                <a:ext uri="{FF2B5EF4-FFF2-40B4-BE49-F238E27FC236}">
                  <a16:creationId xmlns:a16="http://schemas.microsoft.com/office/drawing/2014/main" id="{5B7D321F-6CE3-C856-CB74-0152699859AF}"/>
                </a:ext>
              </a:extLst>
            </p:cNvPr>
            <p:cNvCxnSpPr>
              <a:stCxn id="102" idx="2"/>
              <a:endCxn id="97" idx="0"/>
            </p:cNvCxnSpPr>
            <p:nvPr/>
          </p:nvCxnSpPr>
          <p:spPr>
            <a:xfrm>
              <a:off x="2838798" y="4187196"/>
              <a:ext cx="10423" cy="307343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직선 연결선 125">
              <a:extLst>
                <a:ext uri="{FF2B5EF4-FFF2-40B4-BE49-F238E27FC236}">
                  <a16:creationId xmlns:a16="http://schemas.microsoft.com/office/drawing/2014/main" id="{2BC93CE2-4B42-258A-111E-0E9CDEFC1CCE}"/>
                </a:ext>
              </a:extLst>
            </p:cNvPr>
            <p:cNvCxnSpPr>
              <a:stCxn id="97" idx="3"/>
              <a:endCxn id="96" idx="1"/>
            </p:cNvCxnSpPr>
            <p:nvPr/>
          </p:nvCxnSpPr>
          <p:spPr>
            <a:xfrm>
              <a:off x="3021087" y="4647832"/>
              <a:ext cx="337506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 127">
              <a:extLst>
                <a:ext uri="{FF2B5EF4-FFF2-40B4-BE49-F238E27FC236}">
                  <a16:creationId xmlns:a16="http://schemas.microsoft.com/office/drawing/2014/main" id="{2570261B-6132-7B4F-CB83-707E458DBDC5}"/>
                </a:ext>
              </a:extLst>
            </p:cNvPr>
            <p:cNvCxnSpPr>
              <a:stCxn id="96" idx="3"/>
              <a:endCxn id="95" idx="1"/>
            </p:cNvCxnSpPr>
            <p:nvPr/>
          </p:nvCxnSpPr>
          <p:spPr>
            <a:xfrm>
              <a:off x="3702325" y="4647832"/>
              <a:ext cx="295013" cy="0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직선 연결선 129">
              <a:extLst>
                <a:ext uri="{FF2B5EF4-FFF2-40B4-BE49-F238E27FC236}">
                  <a16:creationId xmlns:a16="http://schemas.microsoft.com/office/drawing/2014/main" id="{3FACEDB1-0C85-C429-B7D3-19D9793E0A5A}"/>
                </a:ext>
              </a:extLst>
            </p:cNvPr>
            <p:cNvCxnSpPr>
              <a:stCxn id="92" idx="2"/>
              <a:endCxn id="93" idx="0"/>
            </p:cNvCxnSpPr>
            <p:nvPr/>
          </p:nvCxnSpPr>
          <p:spPr>
            <a:xfrm>
              <a:off x="4169204" y="2746600"/>
              <a:ext cx="0" cy="393476"/>
            </a:xfrm>
            <a:prstGeom prst="line">
              <a:avLst/>
            </a:prstGeom>
            <a:ln w="57150"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3" name="타원 132">
            <a:extLst>
              <a:ext uri="{FF2B5EF4-FFF2-40B4-BE49-F238E27FC236}">
                <a16:creationId xmlns:a16="http://schemas.microsoft.com/office/drawing/2014/main" id="{09F11C15-C69C-24EB-BD04-4396F0A1A664}"/>
              </a:ext>
            </a:extLst>
          </p:cNvPr>
          <p:cNvSpPr/>
          <p:nvPr/>
        </p:nvSpPr>
        <p:spPr>
          <a:xfrm>
            <a:off x="7835900" y="2498960"/>
            <a:ext cx="241300" cy="241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4" name="타원 133">
            <a:extLst>
              <a:ext uri="{FF2B5EF4-FFF2-40B4-BE49-F238E27FC236}">
                <a16:creationId xmlns:a16="http://schemas.microsoft.com/office/drawing/2014/main" id="{95DE843D-01D4-4F70-A0EB-2E5C9A47FB02}"/>
              </a:ext>
            </a:extLst>
          </p:cNvPr>
          <p:cNvSpPr/>
          <p:nvPr/>
        </p:nvSpPr>
        <p:spPr>
          <a:xfrm>
            <a:off x="7835900" y="4119030"/>
            <a:ext cx="241300" cy="24130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1797E977-5819-4F74-3F02-4ECAB68ED908}"/>
              </a:ext>
            </a:extLst>
          </p:cNvPr>
          <p:cNvCxnSpPr>
            <a:stCxn id="133" idx="4"/>
            <a:endCxn id="134" idx="0"/>
          </p:cNvCxnSpPr>
          <p:nvPr/>
        </p:nvCxnSpPr>
        <p:spPr>
          <a:xfrm>
            <a:off x="7956550" y="2740260"/>
            <a:ext cx="0" cy="13787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타원 137">
            <a:extLst>
              <a:ext uri="{FF2B5EF4-FFF2-40B4-BE49-F238E27FC236}">
                <a16:creationId xmlns:a16="http://schemas.microsoft.com/office/drawing/2014/main" id="{7C6A585C-D447-C3E8-3E57-19C6CF3D62F8}"/>
              </a:ext>
            </a:extLst>
          </p:cNvPr>
          <p:cNvSpPr/>
          <p:nvPr/>
        </p:nvSpPr>
        <p:spPr>
          <a:xfrm>
            <a:off x="7013804" y="3359059"/>
            <a:ext cx="241300" cy="2413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9" name="타원 138">
            <a:extLst>
              <a:ext uri="{FF2B5EF4-FFF2-40B4-BE49-F238E27FC236}">
                <a16:creationId xmlns:a16="http://schemas.microsoft.com/office/drawing/2014/main" id="{77923728-875F-26C6-3853-87C1972EFE1E}"/>
              </a:ext>
            </a:extLst>
          </p:cNvPr>
          <p:cNvSpPr/>
          <p:nvPr/>
        </p:nvSpPr>
        <p:spPr>
          <a:xfrm>
            <a:off x="8616951" y="3359059"/>
            <a:ext cx="241300" cy="24130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864E36BF-3F8B-2FEF-2C7C-0E50197D2BE0}"/>
              </a:ext>
            </a:extLst>
          </p:cNvPr>
          <p:cNvCxnSpPr>
            <a:cxnSpLocks/>
            <a:stCxn id="138" idx="6"/>
            <a:endCxn id="139" idx="2"/>
          </p:cNvCxnSpPr>
          <p:nvPr/>
        </p:nvCxnSpPr>
        <p:spPr>
          <a:xfrm>
            <a:off x="7255104" y="3479709"/>
            <a:ext cx="1361847" cy="0"/>
          </a:xfrm>
          <a:prstGeom prst="line">
            <a:avLst/>
          </a:prstGeom>
          <a:ln w="381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117A2D1-7220-DD33-AFAE-3B44AE56D28F}"/>
                  </a:ext>
                </a:extLst>
              </p:cNvPr>
              <p:cNvSpPr txBox="1"/>
              <p:nvPr/>
            </p:nvSpPr>
            <p:spPr>
              <a:xfrm>
                <a:off x="7936027" y="2858272"/>
                <a:ext cx="4838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2117A2D1-7220-DD33-AFAE-3B44AE56D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36027" y="2858272"/>
                <a:ext cx="483850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B5986F4-696B-1475-526F-984A8352AB08}"/>
                  </a:ext>
                </a:extLst>
              </p:cNvPr>
              <p:cNvSpPr txBox="1"/>
              <p:nvPr/>
            </p:nvSpPr>
            <p:spPr>
              <a:xfrm>
                <a:off x="8021624" y="3462774"/>
                <a:ext cx="1019831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1−</m:t>
                      </m:r>
                      <m:r>
                        <a:rPr lang="en-US" altLang="ko-KR" sz="2400" b="0" i="1" smtClean="0">
                          <a:latin typeface="Cambria Math" panose="02040503050406030204" pitchFamily="18" charset="0"/>
                        </a:rPr>
                        <m:t>𝑤</m:t>
                      </m:r>
                    </m:oMath>
                  </m:oMathPara>
                </a14:m>
                <a:endParaRPr lang="ko-KR" altLang="en-US" sz="2400"/>
              </a:p>
            </p:txBody>
          </p:sp>
        </mc:Choice>
        <mc:Fallback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B5986F4-696B-1475-526F-984A8352AB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624" y="3462774"/>
                <a:ext cx="1019831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D84FD853-DB6B-AE21-5D1A-636AD6D0B90F}"/>
              </a:ext>
            </a:extLst>
          </p:cNvPr>
          <p:cNvSpPr txBox="1"/>
          <p:nvPr/>
        </p:nvSpPr>
        <p:spPr>
          <a:xfrm>
            <a:off x="2023595" y="1317103"/>
            <a:ext cx="1731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정점</a:t>
            </a:r>
            <a:r>
              <a:rPr lang="en-US" altLang="ko-KR" b="1"/>
              <a:t>, </a:t>
            </a:r>
            <a:r>
              <a:rPr lang="ko-KR" altLang="en-US" b="1"/>
              <a:t>간선 정의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CD707-2331-4E9D-34EF-D4825CB94B61}"/>
              </a:ext>
            </a:extLst>
          </p:cNvPr>
          <p:cNvSpPr txBox="1"/>
          <p:nvPr/>
        </p:nvSpPr>
        <p:spPr>
          <a:xfrm>
            <a:off x="7426449" y="1335764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가중치 정의</a:t>
            </a:r>
          </a:p>
        </p:txBody>
      </p:sp>
    </p:spTree>
    <p:extLst>
      <p:ext uri="{BB962C8B-B14F-4D97-AF65-F5344CB8AC3E}">
        <p14:creationId xmlns:p14="http://schemas.microsoft.com/office/powerpoint/2010/main" val="1867909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36BBCEF4-0BA5-8C33-E441-2177A2C714F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ko-KR" altLang="en-US"/>
                  <a:t>듀얼그래프 </a:t>
                </a:r>
                <a:r>
                  <a:rPr lang="en-US" altLang="ko-KR"/>
                  <a:t>=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/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36BBCEF4-0BA5-8C33-E441-2177A2C714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4A0AEB-26F7-2274-829A-C073C07B6F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듀얼 그래프에서 간선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altLang="ko-KR"/>
                  <a:t>*</a:t>
                </a:r>
                <a:r>
                  <a:rPr lang="ko-KR" altLang="en-US"/>
                  <a:t>가 존재한다</a:t>
                </a:r>
                <a:r>
                  <a:rPr lang="en-US" altLang="ko-KR"/>
                  <a:t>.</a:t>
                </a:r>
              </a:p>
              <a:p>
                <a:r>
                  <a:rPr lang="en-US" altLang="ko-KR">
                    <a:sym typeface="Wingdings" panose="05000000000000000000" pitchFamily="2" charset="2"/>
                  </a:rPr>
                  <a:t> </a:t>
                </a:r>
                <a:r>
                  <a:rPr lang="ko-KR" altLang="en-US">
                    <a:sym typeface="Wingdings" panose="05000000000000000000" pitchFamily="2" charset="2"/>
                  </a:rPr>
                  <a:t>원래 그래프에서 간선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가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존</m:t>
                    </m:r>
                  </m:oMath>
                </a14:m>
                <a:r>
                  <a:rPr lang="ko-KR" altLang="en-US"/>
                  <a:t>재하지 않는다</a:t>
                </a:r>
                <a:r>
                  <a:rPr lang="en-US" altLang="ko-KR"/>
                  <a:t>.</a:t>
                </a:r>
              </a:p>
              <a:p>
                <a:r>
                  <a:rPr lang="en-US" altLang="ko-KR">
                    <a:sym typeface="Wingdings" panose="05000000000000000000" pitchFamily="2" charset="2"/>
                  </a:rPr>
                  <a:t> </a:t>
                </a:r>
                <a:r>
                  <a:rPr lang="ko-KR" altLang="en-US">
                    <a:sym typeface="Wingdings" panose="05000000000000000000" pitchFamily="2" charset="2"/>
                  </a:rPr>
                  <a:t>원래 그래프에서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</m:oMath>
                </a14:m>
                <a:r>
                  <a:rPr lang="ko-KR" altLang="en-US"/>
                  <a:t>의 가중치가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/>
                  <a:t>보다 크다</a:t>
                </a:r>
                <a:r>
                  <a:rPr lang="en-US" altLang="ko-KR"/>
                  <a:t>.</a:t>
                </a:r>
              </a:p>
              <a:p>
                <a:r>
                  <a:rPr lang="en-US" altLang="ko-KR">
                    <a:sym typeface="Wingdings" panose="05000000000000000000" pitchFamily="2" charset="2"/>
                  </a:rPr>
                  <a:t> </a:t>
                </a:r>
                <a:r>
                  <a:rPr lang="ko-KR" altLang="en-US">
                    <a:sym typeface="Wingdings" panose="05000000000000000000" pitchFamily="2" charset="2"/>
                  </a:rPr>
                  <a:t>듀얼 그래프에서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𝑒</m:t>
                    </m:r>
                  </m:oMath>
                </a14:m>
                <a:r>
                  <a:rPr lang="en-US" altLang="ko-KR"/>
                  <a:t>*</a:t>
                </a:r>
                <a:r>
                  <a:rPr lang="ko-KR" altLang="en-US"/>
                  <a:t>의 가중치가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보</m:t>
                    </m:r>
                  </m:oMath>
                </a14:m>
                <a:r>
                  <a:rPr lang="ko-KR" altLang="en-US"/>
                  <a:t>다 작다</a:t>
                </a:r>
                <a:r>
                  <a:rPr lang="en-US" altLang="ko-KR"/>
                  <a:t>..</a:t>
                </a:r>
              </a:p>
              <a:p>
                <a:r>
                  <a:rPr lang="ko-KR" altLang="en-US"/>
                  <a:t>결국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의</m:t>
                    </m:r>
                  </m:oMath>
                </a14:m>
                <a:r>
                  <a:rPr lang="en-US" altLang="ko-KR"/>
                  <a:t> </a:t>
                </a:r>
                <a:r>
                  <a:rPr lang="ko-KR" altLang="en-US"/>
                  <a:t>듀얼그래프는 간선의 가중치가 달라진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가 된다는 것을 알 수 있다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그런데 앞서 본 </a:t>
                </a:r>
                <a:r>
                  <a:rPr lang="en-US" altLang="ko-KR"/>
                  <a:t>Zero-One Law</a:t>
                </a:r>
                <a:r>
                  <a:rPr lang="ko-KR" altLang="en-US"/>
                  <a:t>에 따르면 무한 클러스터의 거동은 가중치의 값에 관계 없으므로 큰 문제가 되지 않는다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endParaRPr lang="en-US" altLang="ko-KR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94A0AEB-26F7-2274-829A-C073C07B6F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661" r="-87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0585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00D1-4429-1D45-DF36-26CF8B346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5683979-4AB6-51E9-ADEA-E6D012809B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ko-KR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증</m:t>
                    </m:r>
                  </m:oMath>
                </a14:m>
                <a:r>
                  <a:rPr lang="ko-KR" altLang="en-US"/>
                  <a:t>명</a:t>
                </a:r>
              </a:p>
            </p:txBody>
          </p:sp>
        </mc:Choice>
        <mc:Fallback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25683979-4AB6-51E9-ADEA-E6D012809B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5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ACC440-3C3C-1AED-00AE-6D24933F64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828217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/>
                  <a:t>원래 그래프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가</a:t>
                </a:r>
                <a:r>
                  <a:rPr lang="en-US" altLang="ko-KR"/>
                  <a:t> </a:t>
                </a:r>
                <a:r>
                  <a:rPr lang="ko-KR" altLang="en-US"/>
                  <a:t>무한 클러스터를 가지지 않는다고 가정하자</a:t>
                </a:r>
                <a:r>
                  <a:rPr lang="en-US" altLang="ko-KR"/>
                  <a:t>. (</a:t>
                </a:r>
                <a:r>
                  <a:rPr lang="ko-KR" altLang="en-US"/>
                  <a:t>즉</a:t>
                </a:r>
                <a:r>
                  <a:rPr lang="en-US" altLang="ko-KR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/>
                  <a:t>라고 가정</a:t>
                </a:r>
                <a:r>
                  <a:rPr lang="en-US" altLang="ko-KR"/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의 클러스터가 무한해지는 걸 막기 위해 듀얼그래프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/>
                  <a:t>는 무한 클러스터를 가져야한다</a:t>
                </a:r>
                <a:r>
                  <a:rPr lang="en-US" altLang="ko-KR"/>
                  <a:t>.</a:t>
                </a:r>
              </a:p>
              <a:p>
                <a:pPr marL="0" indent="0">
                  <a:buNone/>
                </a:pPr>
                <a:r>
                  <a:rPr lang="ko-KR" altLang="en-US" sz="2400" b="1"/>
                  <a:t>코드 실행</a:t>
                </a:r>
                <a:r>
                  <a:rPr lang="en-US" altLang="ko-KR" sz="2400" b="1"/>
                  <a:t>(3)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/>
                  <a:t>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즉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≤1−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/>
                  <a:t>이므</a:t>
                </a:r>
                <a14:m>
                  <m:oMath xmlns:m="http://schemas.openxmlformats.org/officeDocument/2006/math">
                    <m:r>
                      <a:rPr lang="ko-KR" altLang="en-US" b="0" i="1">
                        <a:latin typeface="Cambria Math" panose="02040503050406030204" pitchFamily="18" charset="0"/>
                      </a:rPr>
                      <m:t>로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≤0.5</m:t>
                    </m:r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 </a:t>
                </a:r>
              </a:p>
              <a:p>
                <a:r>
                  <a:rPr lang="ko-KR" altLang="en-US"/>
                  <a:t>듀얼그래프의 듀얼그래프는 원래 그래프이므로 대칭적인 상황도 동일하다</a:t>
                </a:r>
                <a:r>
                  <a:rPr lang="en-US" altLang="ko-KR"/>
                  <a:t>. </a:t>
                </a:r>
                <a:r>
                  <a:rPr lang="ko-KR" altLang="en-US"/>
                  <a:t>따라서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≥0.5</m:t>
                    </m:r>
                  </m:oMath>
                </a14:m>
                <a:r>
                  <a:rPr lang="ko-KR" altLang="en-US"/>
                  <a:t>이다</a:t>
                </a:r>
                <a:r>
                  <a:rPr lang="en-US" altLang="ko-KR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∴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</m:t>
                    </m:r>
                  </m:oMath>
                </a14:m>
                <a:endParaRPr lang="en-US" altLang="ko-KR"/>
              </a:p>
              <a:p>
                <a:endParaRPr lang="en-US" altLang="ko-KR"/>
              </a:p>
              <a:p>
                <a:endParaRPr lang="en-US" altLang="ko-KR"/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FACC440-3C3C-1AED-00AE-6D24933F64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828217"/>
              </a:xfrm>
              <a:blipFill>
                <a:blip r:embed="rId3"/>
                <a:stretch>
                  <a:fillRect l="-1043" t="-239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76468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CA131F-CBE1-0B1C-24C4-795A30610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임계점 프랙탈 관찰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31645D-ED3C-F617-4994-BF519942C3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1" t="8928" r="41220" b="43139"/>
          <a:stretch>
            <a:fillRect/>
          </a:stretch>
        </p:blipFill>
        <p:spPr>
          <a:xfrm>
            <a:off x="634757" y="3973962"/>
            <a:ext cx="4933594" cy="251891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66B752C-1498-7EBA-EAE4-7E719E4C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03" t="56860" r="46098" b="826"/>
          <a:stretch>
            <a:fillRect/>
          </a:stretch>
        </p:blipFill>
        <p:spPr>
          <a:xfrm>
            <a:off x="6392444" y="3818623"/>
            <a:ext cx="5164799" cy="2737451"/>
          </a:xfrm>
          <a:prstGeom prst="rect">
            <a:avLst/>
          </a:prstGeom>
        </p:spPr>
      </p:pic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3B80DABF-AD8F-000C-6469-94ACCEBF25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228790"/>
          </a:xfrm>
        </p:spPr>
        <p:txBody>
          <a:bodyPr>
            <a:normAutofit/>
          </a:bodyPr>
          <a:lstStyle/>
          <a:p>
            <a:r>
              <a:rPr lang="en-US" altLang="ko-KR"/>
              <a:t>Box Counting Method</a:t>
            </a:r>
            <a:r>
              <a:rPr lang="ko-KR" altLang="en-US"/>
              <a:t>를 통해서 프랙탈인지 여부와 프랙탈 차원을 확인할 수 있다</a:t>
            </a:r>
            <a:r>
              <a:rPr lang="en-US" altLang="ko-KR"/>
              <a:t>. </a:t>
            </a:r>
          </a:p>
          <a:p>
            <a:r>
              <a:rPr lang="ko-KR" altLang="en-US"/>
              <a:t>박스의 크기 </a:t>
            </a:r>
            <a:r>
              <a:rPr lang="en-US" altLang="ko-KR"/>
              <a:t>s</a:t>
            </a:r>
            <a:r>
              <a:rPr lang="ko-KR" altLang="en-US"/>
              <a:t>와 도형을 덮기 위한 박스의 개수 </a:t>
            </a:r>
            <a:r>
              <a:rPr lang="en-US" altLang="ko-KR"/>
              <a:t>N</a:t>
            </a:r>
            <a:r>
              <a:rPr lang="ko-KR" altLang="en-US"/>
              <a:t>에 대하여 </a:t>
            </a:r>
            <a:r>
              <a:rPr lang="en-US" altLang="ko-KR"/>
              <a:t>log – log plot</a:t>
            </a:r>
            <a:r>
              <a:rPr lang="ko-KR" altLang="en-US"/>
              <a:t>이 선형적이라면</a:t>
            </a:r>
            <a:r>
              <a:rPr lang="en-US" altLang="ko-KR"/>
              <a:t>,  </a:t>
            </a:r>
            <a:r>
              <a:rPr lang="ko-KR" altLang="en-US"/>
              <a:t>자기유사성을 띈다고 말할 수 있다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58D94-B474-9798-28D0-9783B71F3550}"/>
              </a:ext>
            </a:extLst>
          </p:cNvPr>
          <p:cNvSpPr txBox="1"/>
          <p:nvPr/>
        </p:nvSpPr>
        <p:spPr>
          <a:xfrm>
            <a:off x="9548483" y="700926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코드 실행 </a:t>
            </a:r>
            <a:r>
              <a:rPr lang="en-US" altLang="ko-KR" b="1"/>
              <a:t>(4)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621780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CD013C-8F0C-1CA6-7F8A-9A2E007CD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프랙탈 관찰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34FF76-A811-86D1-F857-9F127748D6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/>
                  <a:t>만약 자기유사성을 띄고</a:t>
                </a:r>
                <a:r>
                  <a:rPr lang="en-US" altLang="ko-KR"/>
                  <a:t>, </a:t>
                </a:r>
                <a:r>
                  <a:rPr lang="ko-KR" altLang="en-US"/>
                  <a:t>프랙탈 차원이 정수가 아니라면</a:t>
                </a:r>
                <a:r>
                  <a:rPr lang="en-US" altLang="ko-KR"/>
                  <a:t>, </a:t>
                </a:r>
                <a:r>
                  <a:rPr lang="ko-KR" altLang="en-US"/>
                  <a:t>그것은 </a:t>
                </a:r>
                <a:r>
                  <a:rPr lang="en-US" altLang="ko-KR"/>
                  <a:t>1,2,3</a:t>
                </a:r>
                <a:r>
                  <a:rPr lang="ko-KR" altLang="en-US"/>
                  <a:t>차원 도형이 아닌 프랙탈임을 알 수 있다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각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/>
                  <a:t> 대해서 차원을 구하면 </a:t>
                </a:r>
                <a:r>
                  <a:rPr lang="en-US" altLang="ko-KR"/>
                  <a:t>0.5</a:t>
                </a:r>
                <a:r>
                  <a:rPr lang="ko-KR" altLang="en-US"/>
                  <a:t>일 때 차원이 </a:t>
                </a:r>
                <a:r>
                  <a:rPr lang="en-US" altLang="ko-KR"/>
                  <a:t>1.832</a:t>
                </a:r>
                <a:r>
                  <a:rPr lang="ko-KR" altLang="en-US"/>
                  <a:t>이고</a:t>
                </a:r>
                <a:r>
                  <a:rPr lang="en-US" altLang="ko-KR"/>
                  <a:t>, </a:t>
                </a:r>
                <a:r>
                  <a:rPr lang="ko-KR" altLang="en-US"/>
                  <a:t>그 이후에는 </a:t>
                </a:r>
                <a:r>
                  <a:rPr lang="en-US" altLang="ko-KR"/>
                  <a:t>2</a:t>
                </a:r>
                <a:r>
                  <a:rPr lang="ko-KR" altLang="en-US"/>
                  <a:t>에 가까운 것을 확인 할 수 있다</a:t>
                </a:r>
                <a:r>
                  <a:rPr lang="en-US" altLang="ko-KR"/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F34FF76-A811-86D1-F857-9F127748D6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B33C2D06-6E5F-01C1-7EEE-1C394B1B13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600" y="3492479"/>
            <a:ext cx="8417071" cy="3186002"/>
          </a:xfrm>
          <a:prstGeom prst="rect">
            <a:avLst/>
          </a:prstGeom>
        </p:spPr>
      </p:pic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733250F9-5E2B-0B78-9BA1-781EE7220660}"/>
              </a:ext>
            </a:extLst>
          </p:cNvPr>
          <p:cNvCxnSpPr>
            <a:cxnSpLocks/>
          </p:cNvCxnSpPr>
          <p:nvPr/>
        </p:nvCxnSpPr>
        <p:spPr>
          <a:xfrm flipH="1" flipV="1">
            <a:off x="6096000" y="4318958"/>
            <a:ext cx="1305464" cy="9604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0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B76996-0425-2D32-80B4-9F68F71BB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</a:t>
            </a:r>
            <a:r>
              <a:rPr lang="ko-KR" altLang="en-US"/>
              <a:t>차원 퍼콜레이션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B4BAC2-8F81-BCF0-0065-5931B575AB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/>
                  <a:t>3</a:t>
                </a:r>
                <a:r>
                  <a:rPr lang="ko-KR" altLang="en-US"/>
                  <a:t>차원에서도 </a:t>
                </a:r>
                <a:r>
                  <a:rPr lang="en-US" altLang="ko-KR"/>
                  <a:t>“3</a:t>
                </a:r>
                <a:r>
                  <a:rPr lang="ko-KR" altLang="en-US"/>
                  <a:t>차원 격자 그래프</a:t>
                </a:r>
                <a:r>
                  <a:rPr lang="en-US" altLang="ko-KR"/>
                  <a:t>”</a:t>
                </a:r>
                <a:r>
                  <a:rPr lang="ko-KR" altLang="en-US"/>
                  <a:t>를 통해 퍼콜레이션 모델을 만들 수 있다</a:t>
                </a:r>
                <a:r>
                  <a:rPr lang="en-US" altLang="ko-KR"/>
                  <a:t>.</a:t>
                </a:r>
              </a:p>
              <a:p>
                <a:r>
                  <a:rPr lang="ko-KR" altLang="en-US"/>
                  <a:t>이 경우에도 동일하게 상 전이 현상이 발생한다는 것을 알 수 있다</a:t>
                </a:r>
                <a:r>
                  <a:rPr lang="en-US" altLang="ko-KR"/>
                  <a:t>.</a:t>
                </a:r>
              </a:p>
              <a:p>
                <a:r>
                  <a:rPr lang="en-US" altLang="ko-KR"/>
                  <a:t>3</a:t>
                </a:r>
                <a:r>
                  <a:rPr lang="ko-KR" altLang="en-US"/>
                  <a:t>차원일 때 임계점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ko-KR" altLang="en-US"/>
                  <a:t>를 구해보자</a:t>
                </a:r>
                <a:r>
                  <a:rPr lang="en-US" altLang="ko-KR"/>
                  <a:t>.</a:t>
                </a:r>
                <a:endParaRPr lang="ko-KR" altLang="en-US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7B4BAC2-8F81-BCF0-0065-5931B575AB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661" r="-98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78192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E913DC3-DB1A-AA38-B548-02C9C435D55B}"/>
              </a:ext>
            </a:extLst>
          </p:cNvPr>
          <p:cNvSpPr txBox="1"/>
          <p:nvPr/>
        </p:nvSpPr>
        <p:spPr>
          <a:xfrm>
            <a:off x="6676845" y="2547668"/>
            <a:ext cx="506083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위와같이 </a:t>
            </a:r>
            <a:r>
              <a:rPr lang="en-US" altLang="ko-KR"/>
              <a:t>2.4</a:t>
            </a:r>
            <a:r>
              <a:rPr lang="ko-KR" altLang="en-US"/>
              <a:t>일 때까지는 </a:t>
            </a:r>
            <a:r>
              <a:rPr lang="en-US" altLang="ko-KR"/>
              <a:t>0</a:t>
            </a:r>
            <a:r>
              <a:rPr lang="ko-KR" altLang="en-US"/>
              <a:t>에 가까운 값을 가졌다가</a:t>
            </a:r>
            <a:r>
              <a:rPr lang="en-US" altLang="ko-KR"/>
              <a:t>, 2.25</a:t>
            </a:r>
            <a:r>
              <a:rPr lang="ko-KR" altLang="en-US"/>
              <a:t>일 때 갑자기 커지는 걸 보면 임계값은 </a:t>
            </a:r>
            <a:r>
              <a:rPr lang="en-US" altLang="ko-KR"/>
              <a:t>0.24~0.25 </a:t>
            </a:r>
            <a:r>
              <a:rPr lang="ko-KR" altLang="en-US"/>
              <a:t>임을 알 수 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이 임계값의 정확한 값은 미해결 문제이다</a:t>
            </a:r>
            <a:r>
              <a:rPr lang="en-US" altLang="ko-KR"/>
              <a:t>.</a:t>
            </a:r>
            <a:r>
              <a:rPr lang="ko-KR" altLang="en-US"/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99CC68-4396-B02E-0CB1-EC011DACD0D3}"/>
                  </a:ext>
                </a:extLst>
              </p:cNvPr>
              <p:cNvSpPr txBox="1"/>
              <p:nvPr/>
            </p:nvSpPr>
            <p:spPr>
              <a:xfrm>
                <a:off x="1926566" y="655607"/>
                <a:ext cx="383111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ko-KR" altLang="en-US"/>
                  <a:t>에 따른 최대 클러스터 크기 그래프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399CC68-4396-B02E-0CB1-EC011DACD0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566" y="655607"/>
                <a:ext cx="3831113" cy="369332"/>
              </a:xfrm>
              <a:prstGeom prst="rect">
                <a:avLst/>
              </a:prstGeom>
              <a:blipFill>
                <a:blip r:embed="rId2"/>
                <a:stretch>
                  <a:fillRect t="-13333" b="-23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그림 11">
            <a:extLst>
              <a:ext uri="{FF2B5EF4-FFF2-40B4-BE49-F238E27FC236}">
                <a16:creationId xmlns:a16="http://schemas.microsoft.com/office/drawing/2014/main" id="{D9AFC953-8AF0-8D94-692E-AABECCABCC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6840"/>
          <a:stretch>
            <a:fillRect/>
          </a:stretch>
        </p:blipFill>
        <p:spPr>
          <a:xfrm>
            <a:off x="851139" y="1288210"/>
            <a:ext cx="5337181" cy="505508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C753914-DE6A-78DC-54D6-6E186EB4E279}"/>
              </a:ext>
            </a:extLst>
          </p:cNvPr>
          <p:cNvSpPr txBox="1"/>
          <p:nvPr/>
        </p:nvSpPr>
        <p:spPr>
          <a:xfrm>
            <a:off x="9548483" y="700926"/>
            <a:ext cx="14590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/>
              <a:t>코드 실행 </a:t>
            </a:r>
            <a:r>
              <a:rPr lang="en-US" altLang="ko-KR" b="1"/>
              <a:t>(5)</a:t>
            </a:r>
            <a:endParaRPr lang="ko-KR" altLang="en-US" b="1"/>
          </a:p>
        </p:txBody>
      </p:sp>
    </p:spTree>
    <p:extLst>
      <p:ext uri="{BB962C8B-B14F-4D97-AF65-F5344CB8AC3E}">
        <p14:creationId xmlns:p14="http://schemas.microsoft.com/office/powerpoint/2010/main" val="38397370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26D62-383D-8752-8419-ADB77874ED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감사합니다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FD9C0F-B8A8-A7FE-456A-B99864885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참고 자료</a:t>
            </a:r>
            <a:endParaRPr lang="en-US" altLang="ko-KR"/>
          </a:p>
          <a:p>
            <a:r>
              <a:rPr lang="en-US" altLang="ko-KR"/>
              <a:t>Spectal Collective(2022). Percolation: a Mathematical Phase Transition. Youtube.</a:t>
            </a:r>
            <a:r>
              <a:rPr lang="ko-KR" altLang="en-US"/>
              <a:t> </a:t>
            </a:r>
            <a:r>
              <a:rPr lang="en-US" altLang="ko-KR">
                <a:hlinkClick r:id="rId3"/>
              </a:rPr>
              <a:t>https://youtu.be/a-767WnbaCQ?si=As8K63mNwEat1u32</a:t>
            </a:r>
            <a:r>
              <a:rPr lang="en-US" altLang="ko-KR"/>
              <a:t> </a:t>
            </a:r>
          </a:p>
          <a:p>
            <a:r>
              <a:rPr lang="en-US" altLang="ko-KR"/>
              <a:t>Hugo Duminil-Copin(2017). Sixty years of percolation. 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9363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1288</TotalTime>
  <Words>982</Words>
  <Application>Microsoft Office PowerPoint</Application>
  <PresentationFormat>와이드스크린</PresentationFormat>
  <Paragraphs>108</Paragraphs>
  <Slides>20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7" baseType="lpstr">
      <vt:lpstr>맑은 고딕</vt:lpstr>
      <vt:lpstr>Aptos</vt:lpstr>
      <vt:lpstr>Aptos Display</vt:lpstr>
      <vt:lpstr>Arial</vt:lpstr>
      <vt:lpstr>Cambria Math</vt:lpstr>
      <vt:lpstr>Wingdings</vt:lpstr>
      <vt:lpstr>Office Theme</vt:lpstr>
      <vt:lpstr>침투 이론 (Percolation Theory)</vt:lpstr>
      <vt:lpstr>이론적 배경 : 그래프</vt:lpstr>
      <vt:lpstr>이론적 배경 : 격자 그래프</vt:lpstr>
      <vt:lpstr>이론적 배경 : 클러스터</vt:lpstr>
      <vt:lpstr>침투 이론이란?</vt:lpstr>
      <vt:lpstr>침투 이론이란?</vt:lpstr>
      <vt:lpstr>침투 이론 모델링 : 커플링</vt:lpstr>
      <vt:lpstr>PowerPoint 프레젠테이션</vt:lpstr>
      <vt:lpstr>상전이 현상</vt:lpstr>
      <vt:lpstr>상전이 현상 : 증명</vt:lpstr>
      <vt:lpstr>상전이 현상 : 증명</vt:lpstr>
      <vt:lpstr>p_c=0.5 증명 – 듀얼 그래프 정의</vt:lpstr>
      <vt:lpstr>PowerPoint 프레젠테이션</vt:lpstr>
      <vt:lpstr>듀얼그래프 = G(1-p)</vt:lpstr>
      <vt:lpstr>p_c=0.5 증명</vt:lpstr>
      <vt:lpstr>임계점 프랙탈 관찰</vt:lpstr>
      <vt:lpstr>프랙탈 관찰</vt:lpstr>
      <vt:lpstr>3차원 퍼콜레이션</vt:lpstr>
      <vt:lpstr>PowerPoint 프레젠테이션</vt:lpstr>
      <vt:lpstr>감사합니다.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강효민</dc:creator>
  <cp:lastModifiedBy>강효민</cp:lastModifiedBy>
  <cp:revision>55</cp:revision>
  <dcterms:created xsi:type="dcterms:W3CDTF">2025-11-16T13:15:25Z</dcterms:created>
  <dcterms:modified xsi:type="dcterms:W3CDTF">2025-11-20T17:34:35Z</dcterms:modified>
</cp:coreProperties>
</file>